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61" r:id="rId4"/>
    <p:sldId id="287" r:id="rId5"/>
    <p:sldId id="264" r:id="rId6"/>
    <p:sldId id="266" r:id="rId7"/>
    <p:sldId id="288" r:id="rId8"/>
    <p:sldId id="274" r:id="rId9"/>
    <p:sldId id="289" r:id="rId10"/>
    <p:sldId id="276" r:id="rId11"/>
    <p:sldId id="277" r:id="rId12"/>
    <p:sldId id="283" r:id="rId13"/>
    <p:sldId id="284" r:id="rId14"/>
    <p:sldId id="285" r:id="rId15"/>
    <p:sldId id="28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92BCE6-9CB8-DF50-692A-097F3D8D7A70}" v="1316" dt="2026-08-06T08:52:31.138"/>
    <p1510:client id="{6F48FEFE-039E-4792-DD90-3F238B19725A}" v="9" dt="2026-08-06T13:09:11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58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CFADS vs total debt service (USD m)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Outputs!$B$42</c:f>
              <c:strCache>
                <c:ptCount val="1"/>
                <c:pt idx="0">
                  <c:v>CFADS</c:v>
                </c:pt>
              </c:strCache>
            </c:strRef>
          </c:tx>
          <c:spPr>
            <a:solidFill>
              <a:srgbClr val="2E75B6"/>
            </a:solidFill>
            <a:ln>
              <a:noFill/>
            </a:ln>
            <a:effectLst/>
          </c:spPr>
          <c:invertIfNegative val="0"/>
          <c:cat>
            <c:numRef>
              <c:f>Outputs!$A$43:$A$62</c:f>
              <c:numCache>
                <c:formatCode>0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Outputs!$B$43:$B$62</c:f>
              <c:numCache>
                <c:formatCode>0.00</c:formatCode>
                <c:ptCount val="20"/>
                <c:pt idx="0">
                  <c:v>4.8889499999999995</c:v>
                </c:pt>
                <c:pt idx="1">
                  <c:v>4.9361842499999984</c:v>
                </c:pt>
                <c:pt idx="2">
                  <c:v>4.983749013749998</c:v>
                </c:pt>
                <c:pt idx="3">
                  <c:v>5.031637908956248</c:v>
                </c:pt>
                <c:pt idx="4">
                  <c:v>5.0798441173905902</c:v>
                </c:pt>
                <c:pt idx="5">
                  <c:v>5.128360368145449</c:v>
                </c:pt>
                <c:pt idx="6">
                  <c:v>5.1771789203314498</c:v>
                </c:pt>
                <c:pt idx="7">
                  <c:v>5.2262915452001542</c:v>
                </c:pt>
                <c:pt idx="8">
                  <c:v>5.2756895076738033</c:v>
                </c:pt>
                <c:pt idx="9">
                  <c:v>5.3253635472634251</c:v>
                </c:pt>
                <c:pt idx="10">
                  <c:v>5.3753038583561281</c:v>
                </c:pt>
                <c:pt idx="11">
                  <c:v>5.4255000698517328</c:v>
                </c:pt>
                <c:pt idx="12">
                  <c:v>5.4759412241283805</c:v>
                </c:pt>
                <c:pt idx="13">
                  <c:v>5.526615755316044</c:v>
                </c:pt>
                <c:pt idx="14">
                  <c:v>5.5775114668562926</c:v>
                </c:pt>
                <c:pt idx="15">
                  <c:v>5.6286155083259626</c:v>
                </c:pt>
                <c:pt idx="16">
                  <c:v>5.6799143515016812</c:v>
                </c:pt>
                <c:pt idx="17">
                  <c:v>5.7313937656415614</c:v>
                </c:pt>
                <c:pt idx="18">
                  <c:v>5.7830387919595605</c:v>
                </c:pt>
                <c:pt idx="19">
                  <c:v>5.8348337172673297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83-4BB9-996F-9AAB3448E634}"/>
            </c:ext>
          </c:extLst>
        </c:ser>
        <c:ser>
          <c:idx val="2"/>
          <c:order val="1"/>
          <c:tx>
            <c:strRef>
              <c:f>Outputs!$C$42</c:f>
              <c:strCache>
                <c:ptCount val="1"/>
                <c:pt idx="0">
                  <c:v>Total debt service</c:v>
                </c:pt>
              </c:strCache>
            </c:strRef>
          </c:tx>
          <c:spPr>
            <a:solidFill>
              <a:srgbClr val="C55A11"/>
            </a:solidFill>
            <a:ln>
              <a:noFill/>
            </a:ln>
            <a:effectLst/>
          </c:spPr>
          <c:invertIfNegative val="0"/>
          <c:cat>
            <c:numRef>
              <c:f>Outputs!$A$43:$A$62</c:f>
              <c:numCache>
                <c:formatCode>0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Outputs!$C$43:$C$62</c:f>
              <c:numCache>
                <c:formatCode>0.00</c:formatCode>
                <c:ptCount val="20"/>
                <c:pt idx="0">
                  <c:v>4.324840384615384</c:v>
                </c:pt>
                <c:pt idx="1">
                  <c:v>4.3666245288461525</c:v>
                </c:pt>
                <c:pt idx="2">
                  <c:v>4.4087010506249982</c:v>
                </c:pt>
                <c:pt idx="3">
                  <c:v>4.4510643040766809</c:v>
                </c:pt>
                <c:pt idx="4">
                  <c:v>4.4937082576916758</c:v>
                </c:pt>
                <c:pt idx="5">
                  <c:v>4.5366264795132825</c:v>
                </c:pt>
                <c:pt idx="6">
                  <c:v>4.579812121831667</c:v>
                </c:pt>
                <c:pt idx="7">
                  <c:v>4.6232579053693676</c:v>
                </c:pt>
                <c:pt idx="8">
                  <c:v>4.6669561029422102</c:v>
                </c:pt>
                <c:pt idx="9">
                  <c:v>4.7108985225791837</c:v>
                </c:pt>
                <c:pt idx="10">
                  <c:v>4.7550764900842672</c:v>
                </c:pt>
                <c:pt idx="11">
                  <c:v>4.5601754366033083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783-4BB9-996F-9AAB3448E6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0783624"/>
        <c:axId val="361125895"/>
      </c:barChart>
      <c:catAx>
        <c:axId val="9007836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Operating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1125895"/>
        <c:crosses val="autoZero"/>
        <c:auto val="1"/>
        <c:lblAlgn val="ctr"/>
        <c:lblOffset val="100"/>
        <c:noMultiLvlLbl val="0"/>
      </c:catAx>
      <c:valAx>
        <c:axId val="361125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USD 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0783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DSCR profile vs the 1.30x covenant floor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Outputs!$F$42</c:f>
              <c:strCache>
                <c:ptCount val="1"/>
                <c:pt idx="0">
                  <c:v>DSCR (scheduled)</c:v>
                </c:pt>
              </c:strCache>
            </c:strRef>
          </c:tx>
          <c:spPr>
            <a:ln w="38100" cap="rnd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Outputs!$E$43:$E$62</c:f>
              <c:numCache>
                <c:formatCode>0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Outputs!$F$43:$F$62</c:f>
              <c:numCache>
                <c:formatCode>0.00</c:formatCode>
                <c:ptCount val="20"/>
                <c:pt idx="0">
                  <c:v>1.3</c:v>
                </c:pt>
                <c:pt idx="1">
                  <c:v>1.3</c:v>
                </c:pt>
                <c:pt idx="2">
                  <c:v>1.3</c:v>
                </c:pt>
                <c:pt idx="3">
                  <c:v>1.3</c:v>
                </c:pt>
                <c:pt idx="4">
                  <c:v>1.3</c:v>
                </c:pt>
                <c:pt idx="5">
                  <c:v>1.3</c:v>
                </c:pt>
                <c:pt idx="6">
                  <c:v>1.3</c:v>
                </c:pt>
                <c:pt idx="7">
                  <c:v>1.3</c:v>
                </c:pt>
                <c:pt idx="8">
                  <c:v>1.3</c:v>
                </c:pt>
                <c:pt idx="9">
                  <c:v>1.3</c:v>
                </c:pt>
                <c:pt idx="10">
                  <c:v>1.3</c:v>
                </c:pt>
                <c:pt idx="11">
                  <c:v>1.3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515-4871-ABC2-4A1A6F4E3D9E}"/>
            </c:ext>
          </c:extLst>
        </c:ser>
        <c:ser>
          <c:idx val="2"/>
          <c:order val="1"/>
          <c:tx>
            <c:strRef>
              <c:f>Outputs!$G$42</c:f>
              <c:strCache>
                <c:ptCount val="1"/>
                <c:pt idx="0">
                  <c:v>Covenant floor</c:v>
                </c:pt>
              </c:strCache>
            </c:strRef>
          </c:tx>
          <c:spPr>
            <a:ln w="25400" cap="rnd">
              <a:solidFill>
                <a:srgbClr val="C00000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Outputs!$E$43:$E$62</c:f>
              <c:numCache>
                <c:formatCode>0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Outputs!$G$43:$G$62</c:f>
              <c:numCache>
                <c:formatCode>0.00</c:formatCode>
                <c:ptCount val="20"/>
                <c:pt idx="0">
                  <c:v>1.3</c:v>
                </c:pt>
                <c:pt idx="1">
                  <c:v>1.3</c:v>
                </c:pt>
                <c:pt idx="2">
                  <c:v>1.3</c:v>
                </c:pt>
                <c:pt idx="3">
                  <c:v>1.3</c:v>
                </c:pt>
                <c:pt idx="4">
                  <c:v>1.3</c:v>
                </c:pt>
                <c:pt idx="5">
                  <c:v>1.3</c:v>
                </c:pt>
                <c:pt idx="6">
                  <c:v>1.3</c:v>
                </c:pt>
                <c:pt idx="7">
                  <c:v>1.3</c:v>
                </c:pt>
                <c:pt idx="8">
                  <c:v>1.3</c:v>
                </c:pt>
                <c:pt idx="9">
                  <c:v>1.3</c:v>
                </c:pt>
                <c:pt idx="10">
                  <c:v>1.3</c:v>
                </c:pt>
                <c:pt idx="11">
                  <c:v>1.3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515-4871-ABC2-4A1A6F4E3D9E}"/>
            </c:ext>
          </c:extLst>
        </c:ser>
        <c:ser>
          <c:idx val="3"/>
          <c:order val="2"/>
          <c:tx>
            <c:strRef>
              <c:f>Outputs!$H$42</c:f>
              <c:strCache>
                <c:ptCount val="1"/>
                <c:pt idx="0">
                  <c:v>DSCR incl. cash sweep</c:v>
                </c:pt>
              </c:strCache>
            </c:strRef>
          </c:tx>
          <c:spPr>
            <a:ln w="25400" cap="rnd">
              <a:solidFill>
                <a:srgbClr val="7F7F7F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Outputs!$E$43:$E$62</c:f>
              <c:numCache>
                <c:formatCode>0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Outputs!$H$43:$H$62</c:f>
              <c:numCache>
                <c:formatCode>0.00</c:formatCode>
                <c:ptCount val="20"/>
                <c:pt idx="0">
                  <c:v>1.1304347826086958</c:v>
                </c:pt>
                <c:pt idx="1">
                  <c:v>1.1304347826086956</c:v>
                </c:pt>
                <c:pt idx="2">
                  <c:v>1.1304347826086956</c:v>
                </c:pt>
                <c:pt idx="3">
                  <c:v>1.1304347826086956</c:v>
                </c:pt>
                <c:pt idx="4">
                  <c:v>1.1304347826086958</c:v>
                </c:pt>
                <c:pt idx="5">
                  <c:v>1.1304347826086956</c:v>
                </c:pt>
                <c:pt idx="6">
                  <c:v>1.1304347826086958</c:v>
                </c:pt>
                <c:pt idx="7">
                  <c:v>1.1304347826086956</c:v>
                </c:pt>
                <c:pt idx="8">
                  <c:v>1.1304347826086958</c:v>
                </c:pt>
                <c:pt idx="9">
                  <c:v>1.1304347826086956</c:v>
                </c:pt>
                <c:pt idx="10">
                  <c:v>1.1304347826086956</c:v>
                </c:pt>
                <c:pt idx="11">
                  <c:v>1.1897568734533095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515-4871-ABC2-4A1A6F4E3D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3294728"/>
        <c:axId val="283307528"/>
      </c:lineChart>
      <c:catAx>
        <c:axId val="283294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Operating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3307528"/>
        <c:crosses val="autoZero"/>
        <c:auto val="1"/>
        <c:lblAlgn val="ctr"/>
        <c:lblOffset val="100"/>
        <c:noMultiLvlLbl val="0"/>
      </c:catAx>
      <c:valAx>
        <c:axId val="283307528"/>
        <c:scaling>
          <c:orientation val="minMax"/>
          <c:max val="1.4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DSCR (x)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3294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Senior debt outstanding (USD m)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Outputs!$J$42</c:f>
              <c:strCache>
                <c:ptCount val="1"/>
                <c:pt idx="0">
                  <c:v>Senior debt outstanding</c:v>
                </c:pt>
              </c:strCache>
            </c:strRef>
          </c:tx>
          <c:spPr>
            <a:ln w="31750" cap="rnd">
              <a:solidFill>
                <a:srgbClr val="C55A11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Outputs!$I$43:$I$62</c:f>
              <c:numCache>
                <c:formatCode>0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Outputs!$J$43:$J$62</c:f>
              <c:numCache>
                <c:formatCode>0.00</c:formatCode>
                <c:ptCount val="20"/>
                <c:pt idx="0">
                  <c:v>32.366901154048541</c:v>
                </c:pt>
                <c:pt idx="1">
                  <c:v>30.589628717526274</c:v>
                </c:pt>
                <c:pt idx="2">
                  <c:v>28.628097964303379</c:v>
                </c:pt>
                <c:pt idx="3">
                  <c:v>26.467281497370969</c:v>
                </c:pt>
                <c:pt idx="4">
                  <c:v>24.090955759468972</c:v>
                </c:pt>
                <c:pt idx="5">
                  <c:v>21.481605740713206</c:v>
                </c:pt>
                <c:pt idx="6">
                  <c:v>18.620322078138596</c:v>
                </c:pt>
                <c:pt idx="7">
                  <c:v>15.486689939020316</c:v>
                </c:pt>
                <c:pt idx="8">
                  <c:v>12.058669031199731</c:v>
                </c:pt>
                <c:pt idx="9">
                  <c:v>8.3124640311165265</c:v>
                </c:pt>
                <c:pt idx="10">
                  <c:v>4.2223846635215816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C2-42A9-8A93-06BB173180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37024007"/>
        <c:axId val="1537030151"/>
      </c:lineChart>
      <c:catAx>
        <c:axId val="153702400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Operating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030151"/>
        <c:crosses val="autoZero"/>
        <c:auto val="1"/>
        <c:lblAlgn val="ctr"/>
        <c:lblOffset val="100"/>
        <c:noMultiLvlLbl val="0"/>
      </c:catAx>
      <c:valAx>
        <c:axId val="15370301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USD 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024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BottomRule"/>
          <p:cNvSpPr/>
          <p:nvPr/>
        </p:nvSpPr>
        <p:spPr>
          <a:xfrm>
            <a:off x="0" y="6743700"/>
            <a:ext cx="12192000" cy="45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AccentTab"/>
          <p:cNvSpPr/>
          <p:nvPr/>
        </p:nvSpPr>
        <p:spPr>
          <a:xfrm>
            <a:off x="0" y="6743700"/>
            <a:ext cx="1600200" cy="457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386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6262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82A1E4D7-4D2E-4D75-B55E-E1C04F46B412}"/>
              </a:ext>
            </a:extLst>
          </p:cNvPr>
          <p:cNvSpPr txBox="1"/>
          <p:nvPr/>
        </p:nvSpPr>
        <p:spPr>
          <a:xfrm>
            <a:off x="609600" y="330200"/>
            <a:ext cx="10972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C55A11"/>
                </a:solidFill>
                <a:latin typeface="Calibri"/>
                <a:ea typeface="Calibri"/>
                <a:cs typeface="Calibri"/>
              </a:rPr>
              <a:t>MERIDIAN SOLAR IPP  |  50 MW  |  INTERNAL DEAL REVIEW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8CC9AB-FCEB-471F-843D-86C732C040F3}"/>
              </a:ext>
            </a:extLst>
          </p:cNvPr>
          <p:cNvSpPr txBox="1"/>
          <p:nvPr/>
        </p:nvSpPr>
        <p:spPr>
          <a:xfrm>
            <a:off x="609600" y="635000"/>
            <a:ext cx="10972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1F3864"/>
                </a:solidFill>
                <a:latin typeface="Georgia"/>
              </a:rPr>
              <a:t>Do not proceed to credit committee on current terms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25560C-03BD-472E-8560-5C7102C060CA}"/>
              </a:ext>
            </a:extLst>
          </p:cNvPr>
          <p:cNvSpPr txBox="1"/>
          <p:nvPr/>
        </p:nvSpPr>
        <p:spPr>
          <a:xfrm>
            <a:off x="609600" y="1244600"/>
            <a:ext cx="10972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The financing works; the asset economics do not — project IRR of 6.07% against a 10% hurdle.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F6D56B-982E-435F-B17F-D370FF0E89F1}"/>
              </a:ext>
            </a:extLst>
          </p:cNvPr>
          <p:cNvSpPr/>
          <p:nvPr/>
        </p:nvSpPr>
        <p:spPr>
          <a:xfrm>
            <a:off x="609600" y="1676400"/>
            <a:ext cx="10972800" cy="254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CF7C32-0997-4418-B274-68A92334A6E5}"/>
              </a:ext>
            </a:extLst>
          </p:cNvPr>
          <p:cNvSpPr/>
          <p:nvPr/>
        </p:nvSpPr>
        <p:spPr>
          <a:xfrm>
            <a:off x="609600" y="1905000"/>
            <a:ext cx="2628900" cy="9398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C6529B-CAD3-4749-A876-EA06AA8193AA}"/>
              </a:ext>
            </a:extLst>
          </p:cNvPr>
          <p:cNvSpPr txBox="1"/>
          <p:nvPr/>
        </p:nvSpPr>
        <p:spPr>
          <a:xfrm>
            <a:off x="787400" y="2032000"/>
            <a:ext cx="22733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Project IRR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21ACE5-BFAA-4397-A670-4F7D896CECAE}"/>
              </a:ext>
            </a:extLst>
          </p:cNvPr>
          <p:cNvSpPr txBox="1"/>
          <p:nvPr/>
        </p:nvSpPr>
        <p:spPr>
          <a:xfrm>
            <a:off x="787400" y="2311400"/>
            <a:ext cx="22733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C00000"/>
                </a:solidFill>
                <a:latin typeface="Georgia"/>
              </a:rPr>
              <a:t>6.07%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B864DB-FE1C-4052-9E3D-B1928766A773}"/>
              </a:ext>
            </a:extLst>
          </p:cNvPr>
          <p:cNvSpPr/>
          <p:nvPr/>
        </p:nvSpPr>
        <p:spPr>
          <a:xfrm>
            <a:off x="3390900" y="1905000"/>
            <a:ext cx="2628900" cy="9398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ADF41D-790E-41EF-A096-0781ACBEE52D}"/>
              </a:ext>
            </a:extLst>
          </p:cNvPr>
          <p:cNvSpPr txBox="1"/>
          <p:nvPr/>
        </p:nvSpPr>
        <p:spPr>
          <a:xfrm>
            <a:off x="3568700" y="2032000"/>
            <a:ext cx="22733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Project NPV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DA906C-4E3F-4F41-8A5D-98A54B9C7B96}"/>
              </a:ext>
            </a:extLst>
          </p:cNvPr>
          <p:cNvSpPr txBox="1"/>
          <p:nvPr/>
        </p:nvSpPr>
        <p:spPr>
          <a:xfrm>
            <a:off x="3568700" y="2311400"/>
            <a:ext cx="22733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C00000"/>
                </a:solidFill>
                <a:latin typeface="Georgia"/>
              </a:rPr>
              <a:t>$(15.68)m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0C2D930-BC0C-4110-9F37-17323E981339}"/>
              </a:ext>
            </a:extLst>
          </p:cNvPr>
          <p:cNvSpPr/>
          <p:nvPr/>
        </p:nvSpPr>
        <p:spPr>
          <a:xfrm>
            <a:off x="6172200" y="1905000"/>
            <a:ext cx="2628900" cy="9398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9F535C-9C9E-4200-B7F0-7650867D84B2}"/>
              </a:ext>
            </a:extLst>
          </p:cNvPr>
          <p:cNvSpPr txBox="1"/>
          <p:nvPr/>
        </p:nvSpPr>
        <p:spPr>
          <a:xfrm>
            <a:off x="6350000" y="2032000"/>
            <a:ext cx="22733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DIF facility (1.30x DSCR)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0ED456-AF6A-4B39-AF31-636C544E19C6}"/>
              </a:ext>
            </a:extLst>
          </p:cNvPr>
          <p:cNvSpPr txBox="1"/>
          <p:nvPr/>
        </p:nvSpPr>
        <p:spPr>
          <a:xfrm>
            <a:off x="6350000" y="2311400"/>
            <a:ext cx="22733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1F3864"/>
                </a:solidFill>
                <a:latin typeface="Georgia"/>
              </a:rPr>
              <a:t>$34.0m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67DD61-2FDF-4BD7-AF25-7A4B7AAAC1C5}"/>
              </a:ext>
            </a:extLst>
          </p:cNvPr>
          <p:cNvSpPr/>
          <p:nvPr/>
        </p:nvSpPr>
        <p:spPr>
          <a:xfrm>
            <a:off x="8953500" y="1905000"/>
            <a:ext cx="2628900" cy="9398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F10CE5-302F-4439-AD2D-002D11A57794}"/>
              </a:ext>
            </a:extLst>
          </p:cNvPr>
          <p:cNvSpPr txBox="1"/>
          <p:nvPr/>
        </p:nvSpPr>
        <p:spPr>
          <a:xfrm>
            <a:off x="9131300" y="2032000"/>
            <a:ext cx="22733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Breakeven tariff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45D640-E9A2-4D82-AFFF-5407CCC2A013}"/>
              </a:ext>
            </a:extLst>
          </p:cNvPr>
          <p:cNvSpPr txBox="1"/>
          <p:nvPr/>
        </p:nvSpPr>
        <p:spPr>
          <a:xfrm>
            <a:off x="9131300" y="2311400"/>
            <a:ext cx="22733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C55A11"/>
                </a:solidFill>
                <a:latin typeface="Georgia"/>
              </a:rPr>
              <a:t>0.1009 /kWh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E3858F3-2468-44E0-83D6-D17846AF26F9}"/>
              </a:ext>
            </a:extLst>
          </p:cNvPr>
          <p:cNvSpPr/>
          <p:nvPr/>
        </p:nvSpPr>
        <p:spPr>
          <a:xfrm>
            <a:off x="609600" y="3175000"/>
            <a:ext cx="381000" cy="381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F2604C-D85C-4163-BCF0-D3C03E459ECB}"/>
              </a:ext>
            </a:extLst>
          </p:cNvPr>
          <p:cNvSpPr txBox="1"/>
          <p:nvPr/>
        </p:nvSpPr>
        <p:spPr>
          <a:xfrm>
            <a:off x="1168400" y="31623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 dirty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 $34.0m DIF facility is comfortably bankable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0DEB7D-AC6E-42E3-944E-C1EE70FEE3A3}"/>
              </a:ext>
            </a:extLst>
          </p:cNvPr>
          <p:cNvSpPr txBox="1"/>
          <p:nvPr/>
        </p:nvSpPr>
        <p:spPr>
          <a:xfrm>
            <a:off x="1168400" y="34671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Flat 1.30x DSCR in every period, retired in Year 12 of a 15-year tenor.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9E222EE-1BE4-429D-B559-802563D4E006}"/>
              </a:ext>
            </a:extLst>
          </p:cNvPr>
          <p:cNvSpPr/>
          <p:nvPr/>
        </p:nvSpPr>
        <p:spPr>
          <a:xfrm>
            <a:off x="609600" y="4013200"/>
            <a:ext cx="381000" cy="381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0DFD05-5267-44B3-AA8D-F4C645E7505D}"/>
              </a:ext>
            </a:extLst>
          </p:cNvPr>
          <p:cNvSpPr txBox="1"/>
          <p:nvPr/>
        </p:nvSpPr>
        <p:spPr>
          <a:xfrm>
            <a:off x="1168400" y="40005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But the asset returns 6.07% unlevered and 6.04% to equity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558DB5-96A1-41A1-B1B9-59BA145BC175}"/>
              </a:ext>
            </a:extLst>
          </p:cNvPr>
          <p:cNvSpPr txBox="1"/>
          <p:nvPr/>
        </p:nvSpPr>
        <p:spPr>
          <a:xfrm>
            <a:off x="1168400" y="43053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NPV of $(15.7)m against the 10% required return.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E3448D5-3155-409F-BC1C-48E2F1762D12}"/>
              </a:ext>
            </a:extLst>
          </p:cNvPr>
          <p:cNvSpPr/>
          <p:nvPr/>
        </p:nvSpPr>
        <p:spPr>
          <a:xfrm>
            <a:off x="609600" y="4851400"/>
            <a:ext cx="381000" cy="381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405700-7E35-46DC-8D85-9DF58B9808B8}"/>
              </a:ext>
            </a:extLst>
          </p:cNvPr>
          <p:cNvSpPr txBox="1"/>
          <p:nvPr/>
        </p:nvSpPr>
        <p:spPr>
          <a:xfrm>
            <a:off x="1168400" y="48387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The gap is the tariff, not the structure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ACBAD-7F55-4414-8EB9-112E11F370E4}"/>
              </a:ext>
            </a:extLst>
          </p:cNvPr>
          <p:cNvSpPr txBox="1"/>
          <p:nvPr/>
        </p:nvSpPr>
        <p:spPr>
          <a:xfrm>
            <a:off x="1168400" y="51435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Breakeven needs 0.1009/kWh versus 0.0750 today — a 34.5% increase.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40EF8A-E5C3-4E31-8DA7-6D075E185B11}"/>
              </a:ext>
            </a:extLst>
          </p:cNvPr>
          <p:cNvSpPr/>
          <p:nvPr/>
        </p:nvSpPr>
        <p:spPr>
          <a:xfrm>
            <a:off x="609600" y="5689600"/>
            <a:ext cx="381000" cy="381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F3EDDC5-3012-4BD5-9350-A22089B68C09}"/>
              </a:ext>
            </a:extLst>
          </p:cNvPr>
          <p:cNvSpPr txBox="1"/>
          <p:nvPr/>
        </p:nvSpPr>
        <p:spPr>
          <a:xfrm>
            <a:off x="1168400" y="56769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Recommendation: renegotiate tariff or EPC cost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6919A7-B902-487E-8F9F-7DFACBAF5EC0}"/>
              </a:ext>
            </a:extLst>
          </p:cNvPr>
          <p:cNvSpPr txBox="1"/>
          <p:nvPr/>
        </p:nvSpPr>
        <p:spPr>
          <a:xfrm>
            <a:off x="1168400" y="5981700"/>
            <a:ext cx="1041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Then bring the same financing structure back to committee unchanged.</a:t>
            </a:r>
          </a:p>
        </p:txBody>
      </p:sp>
    </p:spTree>
    <p:extLst>
      <p:ext uri="{BB962C8B-B14F-4D97-AF65-F5344CB8AC3E}">
        <p14:creationId xmlns:p14="http://schemas.microsoft.com/office/powerpoint/2010/main" val="2040968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01D78B-32F1-4247-B396-A7933FB61445}"/>
              </a:ext>
            </a:extLst>
          </p:cNvPr>
          <p:cNvSpPr txBox="1"/>
          <p:nvPr/>
        </p:nvSpPr>
        <p:spPr>
          <a:xfrm>
            <a:off x="609600" y="330200"/>
            <a:ext cx="10972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C55A11"/>
                </a:solidFill>
                <a:latin typeface="Calibri"/>
                <a:ea typeface="Calibri"/>
                <a:cs typeface="Calibri"/>
              </a:rPr>
              <a:t>THE PROJECT AND THE INVESTMENT THESIS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210D4A-3FE6-42F4-9BBE-B1264CC66630}"/>
              </a:ext>
            </a:extLst>
          </p:cNvPr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1F3864"/>
                </a:solidFill>
                <a:latin typeface="Georgia"/>
              </a:rPr>
              <a:t>A technically simple, contractually de-risked asset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AE37C2-4366-415D-A1C2-56E140D84BAA}"/>
              </a:ext>
            </a:extLst>
          </p:cNvPr>
          <p:cNvSpPr txBox="1"/>
          <p:nvPr/>
        </p:nvSpPr>
        <p:spPr>
          <a:xfrm>
            <a:off x="609600" y="1219200"/>
            <a:ext cx="10972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Which is exactly why the tariff is the only variable that matters.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D390D9-CB9C-4481-8CE1-D4319C3008C5}"/>
              </a:ext>
            </a:extLst>
          </p:cNvPr>
          <p:cNvSpPr/>
          <p:nvPr/>
        </p:nvSpPr>
        <p:spPr>
          <a:xfrm>
            <a:off x="609600" y="1651000"/>
            <a:ext cx="10972800" cy="254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D3DF9F-9584-47B3-A40C-02E2331A6072}"/>
              </a:ext>
            </a:extLst>
          </p:cNvPr>
          <p:cNvSpPr/>
          <p:nvPr/>
        </p:nvSpPr>
        <p:spPr>
          <a:xfrm>
            <a:off x="609600" y="1930400"/>
            <a:ext cx="3556000" cy="10414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29E85A-3A43-4034-98C7-72F4019FC2A1}"/>
              </a:ext>
            </a:extLst>
          </p:cNvPr>
          <p:cNvSpPr/>
          <p:nvPr/>
        </p:nvSpPr>
        <p:spPr>
          <a:xfrm>
            <a:off x="609600" y="1930400"/>
            <a:ext cx="50800" cy="10414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9072FE-D6F1-4171-B52A-8C488E9E9158}"/>
              </a:ext>
            </a:extLst>
          </p:cNvPr>
          <p:cNvSpPr txBox="1"/>
          <p:nvPr/>
        </p:nvSpPr>
        <p:spPr>
          <a:xfrm>
            <a:off x="838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Capacity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091C5D-5A62-4CDC-BBCB-88DB9E7867F4}"/>
              </a:ext>
            </a:extLst>
          </p:cNvPr>
          <p:cNvSpPr txBox="1"/>
          <p:nvPr/>
        </p:nvSpPr>
        <p:spPr>
          <a:xfrm>
            <a:off x="838200" y="2387600"/>
            <a:ext cx="3149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F3864"/>
                </a:solidFill>
                <a:latin typeface="Georgia"/>
              </a:rPr>
              <a:t>50 MW solar, Rift Valley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9704AE-3D3E-4DF6-996B-2D3D6ECEC998}"/>
              </a:ext>
            </a:extLst>
          </p:cNvPr>
          <p:cNvSpPr/>
          <p:nvPr/>
        </p:nvSpPr>
        <p:spPr>
          <a:xfrm>
            <a:off x="4318000" y="1930400"/>
            <a:ext cx="3556000" cy="10414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D09C67-9127-4E30-8252-76B77F8D58B3}"/>
              </a:ext>
            </a:extLst>
          </p:cNvPr>
          <p:cNvSpPr/>
          <p:nvPr/>
        </p:nvSpPr>
        <p:spPr>
          <a:xfrm>
            <a:off x="4318000" y="1930400"/>
            <a:ext cx="50800" cy="10414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ADC098-DD01-408B-95CD-CC4113847136}"/>
              </a:ext>
            </a:extLst>
          </p:cNvPr>
          <p:cNvSpPr txBox="1"/>
          <p:nvPr/>
        </p:nvSpPr>
        <p:spPr>
          <a:xfrm>
            <a:off x="45466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Construction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748A47-5C04-43F4-A52F-06A7856AB6B4}"/>
              </a:ext>
            </a:extLst>
          </p:cNvPr>
          <p:cNvSpPr txBox="1"/>
          <p:nvPr/>
        </p:nvSpPr>
        <p:spPr>
          <a:xfrm>
            <a:off x="4546600" y="2387600"/>
            <a:ext cx="3149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F3864"/>
                </a:solidFill>
                <a:latin typeface="Georgia"/>
              </a:rPr>
              <a:t>$60.0m over 12 months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5C850E-1FD7-4893-AE5E-3EDEE888EA40}"/>
              </a:ext>
            </a:extLst>
          </p:cNvPr>
          <p:cNvSpPr/>
          <p:nvPr/>
        </p:nvSpPr>
        <p:spPr>
          <a:xfrm>
            <a:off x="8026400" y="1930400"/>
            <a:ext cx="3556000" cy="10414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FB46E3-E494-4BD5-A104-3991EC86C7F2}"/>
              </a:ext>
            </a:extLst>
          </p:cNvPr>
          <p:cNvSpPr/>
          <p:nvPr/>
        </p:nvSpPr>
        <p:spPr>
          <a:xfrm>
            <a:off x="8026400" y="1930400"/>
            <a:ext cx="50800" cy="10414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C6A949-4352-4298-BCDD-C95FD6C1D1BC}"/>
              </a:ext>
            </a:extLst>
          </p:cNvPr>
          <p:cNvSpPr txBox="1"/>
          <p:nvPr/>
        </p:nvSpPr>
        <p:spPr>
          <a:xfrm>
            <a:off x="82550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Operations from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B93FB9-8AF0-472C-AE29-4995026E0290}"/>
              </a:ext>
            </a:extLst>
          </p:cNvPr>
          <p:cNvSpPr txBox="1"/>
          <p:nvPr/>
        </p:nvSpPr>
        <p:spPr>
          <a:xfrm>
            <a:off x="8255000" y="2387600"/>
            <a:ext cx="3149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F3864"/>
                </a:solidFill>
                <a:latin typeface="Georgia"/>
              </a:rPr>
              <a:t>1 January 2027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897E0C-A7BC-4038-A726-F14C0669A58B}"/>
              </a:ext>
            </a:extLst>
          </p:cNvPr>
          <p:cNvSpPr/>
          <p:nvPr/>
        </p:nvSpPr>
        <p:spPr>
          <a:xfrm>
            <a:off x="609600" y="3149600"/>
            <a:ext cx="3556000" cy="10414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25619B-3EF1-49E8-8CD7-53F4798AD8FE}"/>
              </a:ext>
            </a:extLst>
          </p:cNvPr>
          <p:cNvSpPr/>
          <p:nvPr/>
        </p:nvSpPr>
        <p:spPr>
          <a:xfrm>
            <a:off x="609600" y="3149600"/>
            <a:ext cx="50800" cy="10414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D054A7-D047-4CBA-B071-D8D2B534F2DB}"/>
              </a:ext>
            </a:extLst>
          </p:cNvPr>
          <p:cNvSpPr txBox="1"/>
          <p:nvPr/>
        </p:nvSpPr>
        <p:spPr>
          <a:xfrm>
            <a:off x="838200" y="33274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Annual generation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AD08A9-5BDA-44DF-A8B7-658E1E700F12}"/>
              </a:ext>
            </a:extLst>
          </p:cNvPr>
          <p:cNvSpPr txBox="1"/>
          <p:nvPr/>
        </p:nvSpPr>
        <p:spPr>
          <a:xfrm>
            <a:off x="838200" y="3606800"/>
            <a:ext cx="3149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F3864"/>
                </a:solidFill>
                <a:latin typeface="Georgia"/>
              </a:rPr>
              <a:t>91.98 GWh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AA5346-C26B-4520-819E-E71319753D65}"/>
              </a:ext>
            </a:extLst>
          </p:cNvPr>
          <p:cNvSpPr/>
          <p:nvPr/>
        </p:nvSpPr>
        <p:spPr>
          <a:xfrm>
            <a:off x="4318000" y="3149600"/>
            <a:ext cx="3556000" cy="10414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33957C-09DF-448B-BE0A-3D9791AF54E3}"/>
              </a:ext>
            </a:extLst>
          </p:cNvPr>
          <p:cNvSpPr/>
          <p:nvPr/>
        </p:nvSpPr>
        <p:spPr>
          <a:xfrm>
            <a:off x="4318000" y="3149600"/>
            <a:ext cx="50800" cy="10414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1A7F30-AE58-4DDA-B18D-A7C96DB7E65D}"/>
              </a:ext>
            </a:extLst>
          </p:cNvPr>
          <p:cNvSpPr txBox="1"/>
          <p:nvPr/>
        </p:nvSpPr>
        <p:spPr>
          <a:xfrm>
            <a:off x="4546600" y="33274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Offtake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6A0AD4-D067-40E3-8E8E-138C389C7223}"/>
              </a:ext>
            </a:extLst>
          </p:cNvPr>
          <p:cNvSpPr txBox="1"/>
          <p:nvPr/>
        </p:nvSpPr>
        <p:spPr>
          <a:xfrm>
            <a:off x="4546600" y="3606800"/>
            <a:ext cx="3149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F3864"/>
                </a:solidFill>
                <a:latin typeface="Georgia"/>
              </a:rPr>
              <a:t>20-yr take-or-pay PPA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03364C-53D1-4854-9A71-44D0251B35EB}"/>
              </a:ext>
            </a:extLst>
          </p:cNvPr>
          <p:cNvSpPr/>
          <p:nvPr/>
        </p:nvSpPr>
        <p:spPr>
          <a:xfrm>
            <a:off x="8026400" y="3149600"/>
            <a:ext cx="3556000" cy="10414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D6C7B7-43B9-4E37-A02C-8C58041CB67C}"/>
              </a:ext>
            </a:extLst>
          </p:cNvPr>
          <p:cNvSpPr/>
          <p:nvPr/>
        </p:nvSpPr>
        <p:spPr>
          <a:xfrm>
            <a:off x="8026400" y="3149600"/>
            <a:ext cx="50800" cy="10414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628816-3A98-4EAB-8F2E-42C1172E80C2}"/>
              </a:ext>
            </a:extLst>
          </p:cNvPr>
          <p:cNvSpPr txBox="1"/>
          <p:nvPr/>
        </p:nvSpPr>
        <p:spPr>
          <a:xfrm>
            <a:off x="8255000" y="33274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Tariff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737798-4BC2-476C-9CD4-33E568FECBF0}"/>
              </a:ext>
            </a:extLst>
          </p:cNvPr>
          <p:cNvSpPr txBox="1"/>
          <p:nvPr/>
        </p:nvSpPr>
        <p:spPr>
          <a:xfrm>
            <a:off x="8255000" y="3606800"/>
            <a:ext cx="3149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F3864"/>
                </a:solidFill>
                <a:latin typeface="Georgia"/>
              </a:rPr>
              <a:t>0.0750 /kWh, +1.5% p.a.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6851307-2DC1-408B-A8EC-1DA9A0849D6C}"/>
              </a:ext>
            </a:extLst>
          </p:cNvPr>
          <p:cNvSpPr/>
          <p:nvPr/>
        </p:nvSpPr>
        <p:spPr>
          <a:xfrm>
            <a:off x="609600" y="4673600"/>
            <a:ext cx="10972800" cy="1524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6DCF86-02ED-4068-9D60-6227F041FE5D}"/>
              </a:ext>
            </a:extLst>
          </p:cNvPr>
          <p:cNvSpPr txBox="1"/>
          <p:nvPr/>
        </p:nvSpPr>
        <p:spPr>
          <a:xfrm>
            <a:off x="965200" y="4927600"/>
            <a:ext cx="10261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2A65A"/>
                </a:solidFill>
                <a:latin typeface="Georgia"/>
              </a:rPr>
              <a:t>The thesis is binary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8283DF-08A8-4F3F-A336-9416A5E49BFA}"/>
              </a:ext>
            </a:extLst>
          </p:cNvPr>
          <p:cNvSpPr txBox="1"/>
          <p:nvPr/>
        </p:nvSpPr>
        <p:spPr>
          <a:xfrm>
            <a:off x="965200" y="5283200"/>
            <a:ext cx="10261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fuel cost, no volume risk, no merchant exposure — and a Year 1 EBITDA margin of 82.6%. With no operating leverage to pull and no volume upside, there is nothing to optimise in operations. Value is set entirely by tariff versus capex.</a:t>
            </a:r>
          </a:p>
        </p:txBody>
      </p:sp>
    </p:spTree>
    <p:extLst>
      <p:ext uri="{BB962C8B-B14F-4D97-AF65-F5344CB8AC3E}">
        <p14:creationId xmlns:p14="http://schemas.microsoft.com/office/powerpoint/2010/main" val="3108560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7F4AF0-27A6-44AB-9354-14C8B251F978}"/>
              </a:ext>
            </a:extLst>
          </p:cNvPr>
          <p:cNvSpPr txBox="1"/>
          <p:nvPr/>
        </p:nvSpPr>
        <p:spPr>
          <a:xfrm>
            <a:off x="609600" y="330200"/>
            <a:ext cx="10972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C55A11"/>
                </a:solidFill>
                <a:latin typeface="Calibri"/>
                <a:ea typeface="Calibri"/>
                <a:cs typeface="Calibri"/>
              </a:rPr>
              <a:t>BASE-CASE PROJECT ECONOMICS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68EE44-1F63-437C-85E5-1C72A46E0AD8}"/>
              </a:ext>
            </a:extLst>
          </p:cNvPr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rgbClr val="1F3864"/>
                </a:solidFill>
                <a:latin typeface="Georgia"/>
              </a:rPr>
              <a:t>Stable, predictable cash flow — and not enough of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07819-46B3-4582-A51F-D5792CBD495B}"/>
              </a:ext>
            </a:extLst>
          </p:cNvPr>
          <p:cNvSpPr txBox="1"/>
          <p:nvPr/>
        </p:nvSpPr>
        <p:spPr>
          <a:xfrm>
            <a:off x="609600" y="1219200"/>
            <a:ext cx="10972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CFADS averages $5.35m a year against debt service sculpted to exactly 1.30x cover.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9B958-8918-4556-AF4F-0365BE50940C}"/>
              </a:ext>
            </a:extLst>
          </p:cNvPr>
          <p:cNvSpPr/>
          <p:nvPr/>
        </p:nvSpPr>
        <p:spPr>
          <a:xfrm>
            <a:off x="609600" y="1651000"/>
            <a:ext cx="10972800" cy="254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FB563A-33F9-466B-A846-A16F909C11C1}"/>
              </a:ext>
            </a:extLst>
          </p:cNvPr>
          <p:cNvSpPr/>
          <p:nvPr/>
        </p:nvSpPr>
        <p:spPr>
          <a:xfrm>
            <a:off x="8534400" y="1930400"/>
            <a:ext cx="3048000" cy="7366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CC416F-B84A-4FAA-B97C-2670D133174B}"/>
              </a:ext>
            </a:extLst>
          </p:cNvPr>
          <p:cNvSpPr txBox="1"/>
          <p:nvPr/>
        </p:nvSpPr>
        <p:spPr>
          <a:xfrm>
            <a:off x="8712200" y="2044700"/>
            <a:ext cx="2692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Revenue, Yr 1 to Yr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F70972-C530-49BD-9EE3-0715C0B5477A}"/>
              </a:ext>
            </a:extLst>
          </p:cNvPr>
          <p:cNvSpPr txBox="1"/>
          <p:nvPr/>
        </p:nvSpPr>
        <p:spPr>
          <a:xfrm>
            <a:off x="8712200" y="22733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1F3864"/>
                </a:solidFill>
                <a:latin typeface="Georgia"/>
              </a:rPr>
              <a:t>$6.90m → $9.15m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53BD91-C6C7-4C79-AAF7-027681BC13BF}"/>
              </a:ext>
            </a:extLst>
          </p:cNvPr>
          <p:cNvSpPr/>
          <p:nvPr/>
        </p:nvSpPr>
        <p:spPr>
          <a:xfrm>
            <a:off x="8534400" y="2768600"/>
            <a:ext cx="3048000" cy="7366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E2ED5E-9CC5-4A6C-A0F7-BB2EE400B7AB}"/>
              </a:ext>
            </a:extLst>
          </p:cNvPr>
          <p:cNvSpPr txBox="1"/>
          <p:nvPr/>
        </p:nvSpPr>
        <p:spPr>
          <a:xfrm>
            <a:off x="8712200" y="2882900"/>
            <a:ext cx="2692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CFADS, Yr 1 to Yr 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59B178-CF8F-4322-B0B3-183D44086711}"/>
              </a:ext>
            </a:extLst>
          </p:cNvPr>
          <p:cNvSpPr txBox="1"/>
          <p:nvPr/>
        </p:nvSpPr>
        <p:spPr>
          <a:xfrm>
            <a:off x="8712200" y="31115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1F3864"/>
                </a:solidFill>
                <a:latin typeface="Georgia"/>
              </a:rPr>
              <a:t>$4.89m → $5.83m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517832-1EC2-4712-BF89-820B73962E26}"/>
              </a:ext>
            </a:extLst>
          </p:cNvPr>
          <p:cNvSpPr/>
          <p:nvPr/>
        </p:nvSpPr>
        <p:spPr>
          <a:xfrm>
            <a:off x="8534400" y="3606800"/>
            <a:ext cx="3048000" cy="7366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BC4A5C-6D74-48D7-9442-7A0C43B8BD8A}"/>
              </a:ext>
            </a:extLst>
          </p:cNvPr>
          <p:cNvSpPr txBox="1"/>
          <p:nvPr/>
        </p:nvSpPr>
        <p:spPr>
          <a:xfrm>
            <a:off x="8712200" y="3721100"/>
            <a:ext cx="2692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Average CFADS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26A1A1-581D-4405-A1F9-3EDA8E8C2D39}"/>
              </a:ext>
            </a:extLst>
          </p:cNvPr>
          <p:cNvSpPr txBox="1"/>
          <p:nvPr/>
        </p:nvSpPr>
        <p:spPr>
          <a:xfrm>
            <a:off x="8712200" y="39497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1F3864"/>
                </a:solidFill>
                <a:latin typeface="Georgia"/>
              </a:rPr>
              <a:t>$5.35m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9F1E8B-E675-411C-B74A-63FAFA5D9396}"/>
              </a:ext>
            </a:extLst>
          </p:cNvPr>
          <p:cNvSpPr/>
          <p:nvPr/>
        </p:nvSpPr>
        <p:spPr>
          <a:xfrm>
            <a:off x="8534400" y="4445000"/>
            <a:ext cx="3048000" cy="7366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B5C04F-8ADA-4F74-8320-A7D2B6847D37}"/>
              </a:ext>
            </a:extLst>
          </p:cNvPr>
          <p:cNvSpPr txBox="1"/>
          <p:nvPr/>
        </p:nvSpPr>
        <p:spPr>
          <a:xfrm>
            <a:off x="8712200" y="4559300"/>
            <a:ext cx="2692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Lifetime generation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2E3241-83DB-47BC-938C-59C15ED4DCC5}"/>
              </a:ext>
            </a:extLst>
          </p:cNvPr>
          <p:cNvSpPr txBox="1"/>
          <p:nvPr/>
        </p:nvSpPr>
        <p:spPr>
          <a:xfrm>
            <a:off x="8712200" y="47879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1F3864"/>
                </a:solidFill>
                <a:latin typeface="Georgia"/>
              </a:rPr>
              <a:t>1,839.6 GWh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EB59F6-4AE3-434B-93B1-EDDBD1171784}"/>
              </a:ext>
            </a:extLst>
          </p:cNvPr>
          <p:cNvSpPr/>
          <p:nvPr/>
        </p:nvSpPr>
        <p:spPr>
          <a:xfrm>
            <a:off x="8534400" y="5283200"/>
            <a:ext cx="3048000" cy="7366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2C0E10-E54C-4A98-9B64-396A39670716}"/>
              </a:ext>
            </a:extLst>
          </p:cNvPr>
          <p:cNvSpPr txBox="1"/>
          <p:nvPr/>
        </p:nvSpPr>
        <p:spPr>
          <a:xfrm>
            <a:off x="8712200" y="5397500"/>
            <a:ext cx="26924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Payback / cash-on-cash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0F22E9-A0E8-4022-A027-90B0C5823066}"/>
              </a:ext>
            </a:extLst>
          </p:cNvPr>
          <p:cNvSpPr txBox="1"/>
          <p:nvPr/>
        </p:nvSpPr>
        <p:spPr>
          <a:xfrm>
            <a:off x="8712200" y="56261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1F3864"/>
                </a:solidFill>
                <a:latin typeface="Georgia"/>
              </a:rPr>
              <a:t>12 yrs / 1.78x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71AC02-343C-4F18-B23A-D534F73B36A4}"/>
              </a:ext>
            </a:extLst>
          </p:cNvPr>
          <p:cNvSpPr txBox="1"/>
          <p:nvPr/>
        </p:nvSpPr>
        <p:spPr>
          <a:xfrm>
            <a:off x="609600" y="57404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C55A11"/>
                </a:solidFill>
                <a:latin typeface="Calibri"/>
                <a:ea typeface="Calibri"/>
                <a:cs typeface="Calibri"/>
              </a:rPr>
              <a:t>Note the squeeze: the tariff escalates at 1.5% a year but opex at 3.0%, so margin compresses slightly every year of the 20-year life.</a:t>
            </a:r>
          </a:p>
        </p:txBody>
      </p:sp>
      <p:graphicFrame>
        <p:nvGraphicFramePr>
          <p:cNvPr id="150" name="Chart CFADS"/>
          <p:cNvGraphicFramePr/>
          <p:nvPr/>
        </p:nvGraphicFramePr>
        <p:xfrm>
          <a:off x="609600" y="1905000"/>
          <a:ext cx="7620000" cy="368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82542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Axis601"/>
          <p:cNvSpPr/>
          <p:nvPr/>
        </p:nvSpPr>
        <p:spPr>
          <a:xfrm>
            <a:off x="1320800" y="4851400"/>
            <a:ext cx="42672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601" name="Axis602"/>
          <p:cNvSpPr/>
          <p:nvPr/>
        </p:nvSpPr>
        <p:spPr>
          <a:xfrm>
            <a:off x="609600" y="47371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300" b="0" dirty="0">
                <a:solidFill>
                  <a:srgbClr val="808080"/>
                </a:solidFill>
                <a:latin typeface="Calibri"/>
              </a:rPr>
              <a:t>2%</a:t>
            </a:r>
          </a:p>
        </p:txBody>
      </p:sp>
      <p:sp>
        <p:nvSpPr>
          <p:cNvPr id="602" name="Axis603"/>
          <p:cNvSpPr/>
          <p:nvPr/>
        </p:nvSpPr>
        <p:spPr>
          <a:xfrm>
            <a:off x="1320800" y="4241800"/>
            <a:ext cx="42672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603" name="Axis604"/>
          <p:cNvSpPr/>
          <p:nvPr/>
        </p:nvSpPr>
        <p:spPr>
          <a:xfrm>
            <a:off x="609600" y="41275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300" b="0" dirty="0">
                <a:solidFill>
                  <a:srgbClr val="808080"/>
                </a:solidFill>
                <a:latin typeface="Calibri"/>
              </a:rPr>
              <a:t>4%</a:t>
            </a:r>
          </a:p>
        </p:txBody>
      </p:sp>
      <p:sp>
        <p:nvSpPr>
          <p:cNvPr id="604" name="Axis605"/>
          <p:cNvSpPr/>
          <p:nvPr/>
        </p:nvSpPr>
        <p:spPr>
          <a:xfrm>
            <a:off x="1320800" y="3632200"/>
            <a:ext cx="42672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605" name="Axis606"/>
          <p:cNvSpPr/>
          <p:nvPr/>
        </p:nvSpPr>
        <p:spPr>
          <a:xfrm>
            <a:off x="609600" y="35179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300" b="0" dirty="0">
                <a:solidFill>
                  <a:srgbClr val="808080"/>
                </a:solidFill>
                <a:latin typeface="Calibri"/>
              </a:rPr>
              <a:t>6%</a:t>
            </a:r>
          </a:p>
        </p:txBody>
      </p:sp>
      <p:sp>
        <p:nvSpPr>
          <p:cNvPr id="606" name="Axis607"/>
          <p:cNvSpPr/>
          <p:nvPr/>
        </p:nvSpPr>
        <p:spPr>
          <a:xfrm>
            <a:off x="1320800" y="3022600"/>
            <a:ext cx="42672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607" name="Axis608"/>
          <p:cNvSpPr/>
          <p:nvPr/>
        </p:nvSpPr>
        <p:spPr>
          <a:xfrm>
            <a:off x="609600" y="29083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300" b="0" dirty="0">
                <a:solidFill>
                  <a:srgbClr val="808080"/>
                </a:solidFill>
                <a:latin typeface="Calibri"/>
              </a:rPr>
              <a:t>8%</a:t>
            </a:r>
          </a:p>
        </p:txBody>
      </p:sp>
      <p:sp>
        <p:nvSpPr>
          <p:cNvPr id="608" name="Axis609"/>
          <p:cNvSpPr/>
          <p:nvPr/>
        </p:nvSpPr>
        <p:spPr>
          <a:xfrm>
            <a:off x="1320800" y="2413000"/>
            <a:ext cx="42672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609" name="Axis610"/>
          <p:cNvSpPr/>
          <p:nvPr/>
        </p:nvSpPr>
        <p:spPr>
          <a:xfrm>
            <a:off x="609600" y="229870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300" b="0" dirty="0">
                <a:solidFill>
                  <a:srgbClr val="808080"/>
                </a:solidFill>
                <a:latin typeface="Calibri"/>
              </a:rPr>
              <a:t>10%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F0DDE0-F807-4810-A38E-44934F701245}"/>
              </a:ext>
            </a:extLst>
          </p:cNvPr>
          <p:cNvSpPr txBox="1"/>
          <p:nvPr/>
        </p:nvSpPr>
        <p:spPr>
          <a:xfrm>
            <a:off x="609600" y="330200"/>
            <a:ext cx="10972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C55A11"/>
                </a:solidFill>
                <a:latin typeface="Calibri"/>
                <a:ea typeface="Calibri"/>
                <a:cs typeface="Calibri"/>
              </a:rPr>
              <a:t>RETURNS VERSUS HURDLE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6EF5F-2479-469C-8FDC-8C66218AC5E4}"/>
              </a:ext>
            </a:extLst>
          </p:cNvPr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1F3864"/>
                </a:solidFill>
                <a:latin typeface="Georgia"/>
              </a:rPr>
              <a:t>The project does not clear its hurdle 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89F11E-08D3-4BFE-BBD0-C79A3C217E89}"/>
              </a:ext>
            </a:extLst>
          </p:cNvPr>
          <p:cNvSpPr txBox="1"/>
          <p:nvPr/>
        </p:nvSpPr>
        <p:spPr>
          <a:xfrm>
            <a:off x="609600" y="1219200"/>
            <a:ext cx="10972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At 6.07% unlevered the project earns roughly four percentage points less than its own 10% discount rate.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20F1D7-A03B-400E-B58B-7F03E8F34474}"/>
              </a:ext>
            </a:extLst>
          </p:cNvPr>
          <p:cNvSpPr/>
          <p:nvPr/>
        </p:nvSpPr>
        <p:spPr>
          <a:xfrm>
            <a:off x="609600" y="1651000"/>
            <a:ext cx="10972800" cy="254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A54BF7-FB40-4ADB-B06E-395C43B35753}"/>
              </a:ext>
            </a:extLst>
          </p:cNvPr>
          <p:cNvSpPr/>
          <p:nvPr/>
        </p:nvSpPr>
        <p:spPr>
          <a:xfrm>
            <a:off x="609600" y="5461000"/>
            <a:ext cx="4978400" cy="19050"/>
          </a:xfrm>
          <a:prstGeom prst="rect">
            <a:avLst/>
          </a:prstGeom>
          <a:solidFill>
            <a:srgbClr val="A6A6A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A79D46-1B92-47F5-9366-64EF454F5F2B}"/>
              </a:ext>
            </a:extLst>
          </p:cNvPr>
          <p:cNvSpPr/>
          <p:nvPr/>
        </p:nvSpPr>
        <p:spPr>
          <a:xfrm>
            <a:off x="1397000" y="2413000"/>
            <a:ext cx="1270000" cy="30480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F5C133-9B9E-434E-B3D4-77A1BAE8C22B}"/>
              </a:ext>
            </a:extLst>
          </p:cNvPr>
          <p:cNvSpPr txBox="1"/>
          <p:nvPr/>
        </p:nvSpPr>
        <p:spPr>
          <a:xfrm>
            <a:off x="1143000" y="1955800"/>
            <a:ext cx="177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1F3864"/>
                </a:solidFill>
                <a:latin typeface="Georgia"/>
              </a:rPr>
              <a:t>10.00%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02C9F-59F8-41B1-BC0F-68B5CB9A0E2E}"/>
              </a:ext>
            </a:extLst>
          </p:cNvPr>
          <p:cNvSpPr txBox="1"/>
          <p:nvPr/>
        </p:nvSpPr>
        <p:spPr>
          <a:xfrm>
            <a:off x="1016000" y="55880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Required return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448342-EF70-4EA6-9398-F841D307CD6A}"/>
              </a:ext>
            </a:extLst>
          </p:cNvPr>
          <p:cNvSpPr/>
          <p:nvPr/>
        </p:nvSpPr>
        <p:spPr>
          <a:xfrm>
            <a:off x="3429000" y="3606800"/>
            <a:ext cx="1270000" cy="18542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3D8FA2-0935-4723-9E59-C63C82C3D557}"/>
              </a:ext>
            </a:extLst>
          </p:cNvPr>
          <p:cNvSpPr txBox="1"/>
          <p:nvPr/>
        </p:nvSpPr>
        <p:spPr>
          <a:xfrm>
            <a:off x="3175000" y="3149600"/>
            <a:ext cx="177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C00000"/>
                </a:solidFill>
                <a:latin typeface="Georgia"/>
              </a:rPr>
              <a:t>6.07%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F8905B-6983-41C3-A50A-B198733C4054}"/>
              </a:ext>
            </a:extLst>
          </p:cNvPr>
          <p:cNvSpPr txBox="1"/>
          <p:nvPr/>
        </p:nvSpPr>
        <p:spPr>
          <a:xfrm>
            <a:off x="3048000" y="5588000"/>
            <a:ext cx="203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Project IRR achieved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9C4D2-D5BB-4888-B626-DD8A16AC0901}"/>
              </a:ext>
            </a:extLst>
          </p:cNvPr>
          <p:cNvSpPr/>
          <p:nvPr/>
        </p:nvSpPr>
        <p:spPr>
          <a:xfrm>
            <a:off x="609600" y="5918200"/>
            <a:ext cx="4978400" cy="558800"/>
          </a:xfrm>
          <a:prstGeom prst="rect">
            <a:avLst/>
          </a:prstGeom>
          <a:solidFill>
            <a:srgbClr val="F7E4E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02F969-68A1-4D03-8203-302E46950867}"/>
              </a:ext>
            </a:extLst>
          </p:cNvPr>
          <p:cNvSpPr txBox="1"/>
          <p:nvPr/>
        </p:nvSpPr>
        <p:spPr>
          <a:xfrm>
            <a:off x="812800" y="6070600"/>
            <a:ext cx="457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Net present value at 10%:  $(15.68)m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315E8E-339B-44E1-9AB2-7420A8424A84}"/>
              </a:ext>
            </a:extLst>
          </p:cNvPr>
          <p:cNvSpPr txBox="1"/>
          <p:nvPr/>
        </p:nvSpPr>
        <p:spPr>
          <a:xfrm>
            <a:off x="6197600" y="1930400"/>
            <a:ext cx="5384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F3864"/>
                </a:solidFill>
                <a:latin typeface="Georgia"/>
              </a:rPr>
              <a:t>Three levers to breakeven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B79DE9-0781-4A6E-B013-87F8EF0B325D}"/>
              </a:ext>
            </a:extLst>
          </p:cNvPr>
          <p:cNvSpPr/>
          <p:nvPr/>
        </p:nvSpPr>
        <p:spPr>
          <a:xfrm>
            <a:off x="6197600" y="2362200"/>
            <a:ext cx="5384800" cy="8128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00424E-7BE7-420C-B01B-B680BF8C4BAE}"/>
              </a:ext>
            </a:extLst>
          </p:cNvPr>
          <p:cNvSpPr/>
          <p:nvPr/>
        </p:nvSpPr>
        <p:spPr>
          <a:xfrm>
            <a:off x="6197600" y="2362200"/>
            <a:ext cx="50800" cy="8128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670B0-9C03-4BB3-AAD0-988CBBB3C862}"/>
              </a:ext>
            </a:extLst>
          </p:cNvPr>
          <p:cNvSpPr txBox="1"/>
          <p:nvPr/>
        </p:nvSpPr>
        <p:spPr>
          <a:xfrm>
            <a:off x="6426200" y="24892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PPA tariff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807D1D-EFF8-4408-8305-BC0A775E1BBB}"/>
              </a:ext>
            </a:extLst>
          </p:cNvPr>
          <p:cNvSpPr txBox="1"/>
          <p:nvPr/>
        </p:nvSpPr>
        <p:spPr>
          <a:xfrm>
            <a:off x="6426200" y="27559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1F3864"/>
                </a:solidFill>
                <a:latin typeface="Georgia"/>
              </a:rPr>
              <a:t>0.0750  →  0.1009 /kWh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747A60-7923-462B-8D4A-855D532A06AE}"/>
              </a:ext>
            </a:extLst>
          </p:cNvPr>
          <p:cNvSpPr txBox="1"/>
          <p:nvPr/>
        </p:nvSpPr>
        <p:spPr>
          <a:xfrm>
            <a:off x="9982200" y="2616200"/>
            <a:ext cx="1422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C55A11"/>
                </a:solidFill>
                <a:latin typeface="Georgia"/>
              </a:rPr>
              <a:t>+34.5%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1AEF29-41B6-4F04-8A7F-28B8F2FB0731}"/>
              </a:ext>
            </a:extLst>
          </p:cNvPr>
          <p:cNvSpPr/>
          <p:nvPr/>
        </p:nvSpPr>
        <p:spPr>
          <a:xfrm>
            <a:off x="6197600" y="3302000"/>
            <a:ext cx="5384800" cy="8128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2B2B33-AEDE-436C-8F50-6D5C24A09124}"/>
              </a:ext>
            </a:extLst>
          </p:cNvPr>
          <p:cNvSpPr/>
          <p:nvPr/>
        </p:nvSpPr>
        <p:spPr>
          <a:xfrm>
            <a:off x="6197600" y="3302000"/>
            <a:ext cx="50800" cy="8128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1132AD-AC50-43EA-B686-4BDD5B43559B}"/>
              </a:ext>
            </a:extLst>
          </p:cNvPr>
          <p:cNvSpPr txBox="1"/>
          <p:nvPr/>
        </p:nvSpPr>
        <p:spPr>
          <a:xfrm>
            <a:off x="6426200" y="34290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Net capacity factor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E92A86-9398-45E4-91FE-ABF7419E1A2E}"/>
              </a:ext>
            </a:extLst>
          </p:cNvPr>
          <p:cNvSpPr txBox="1"/>
          <p:nvPr/>
        </p:nvSpPr>
        <p:spPr>
          <a:xfrm>
            <a:off x="6426200" y="36957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1F3864"/>
                </a:solidFill>
                <a:latin typeface="Georgia"/>
              </a:rPr>
              <a:t>21.0%   →   28.2%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98C0D2-9C02-4967-8CC6-CD99F10A93EA}"/>
              </a:ext>
            </a:extLst>
          </p:cNvPr>
          <p:cNvSpPr txBox="1"/>
          <p:nvPr/>
        </p:nvSpPr>
        <p:spPr>
          <a:xfrm>
            <a:off x="9982200" y="3556000"/>
            <a:ext cx="1422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C55A11"/>
                </a:solidFill>
                <a:latin typeface="Georgia"/>
              </a:rPr>
              <a:t>+7.2pp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DA9107-6370-4CFB-A1B5-BA4333C88916}"/>
              </a:ext>
            </a:extLst>
          </p:cNvPr>
          <p:cNvSpPr/>
          <p:nvPr/>
        </p:nvSpPr>
        <p:spPr>
          <a:xfrm>
            <a:off x="6197600" y="4241800"/>
            <a:ext cx="5384800" cy="8128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55C64B-6EC3-4D4D-9928-DD91DE20ED3D}"/>
              </a:ext>
            </a:extLst>
          </p:cNvPr>
          <p:cNvSpPr/>
          <p:nvPr/>
        </p:nvSpPr>
        <p:spPr>
          <a:xfrm>
            <a:off x="6197600" y="4241800"/>
            <a:ext cx="50800" cy="812800"/>
          </a:xfrm>
          <a:prstGeom prst="rect">
            <a:avLst/>
          </a:prstGeom>
          <a:solidFill>
            <a:srgbClr val="C55A1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6E7604-7311-4CCA-87BD-FA58336F91B3}"/>
              </a:ext>
            </a:extLst>
          </p:cNvPr>
          <p:cNvSpPr txBox="1"/>
          <p:nvPr/>
        </p:nvSpPr>
        <p:spPr>
          <a:xfrm>
            <a:off x="6426200" y="43688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Total capex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4252BB-CEF1-4BAE-833D-20970E3E0CA4}"/>
              </a:ext>
            </a:extLst>
          </p:cNvPr>
          <p:cNvSpPr txBox="1"/>
          <p:nvPr/>
        </p:nvSpPr>
        <p:spPr>
          <a:xfrm>
            <a:off x="6426200" y="4635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1F3864"/>
                </a:solidFill>
                <a:latin typeface="Georgia"/>
              </a:rPr>
              <a:t>$60.0m   →   $42.03m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7A833F-050E-484D-A1F7-B44139739764}"/>
              </a:ext>
            </a:extLst>
          </p:cNvPr>
          <p:cNvSpPr txBox="1"/>
          <p:nvPr/>
        </p:nvSpPr>
        <p:spPr>
          <a:xfrm>
            <a:off x="9982200" y="4495800"/>
            <a:ext cx="14224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>
                <a:solidFill>
                  <a:srgbClr val="C55A11"/>
                </a:solidFill>
                <a:latin typeface="Georgia"/>
              </a:rPr>
              <a:t>-30.0%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80F114-7956-4CC9-8C30-972CB47229F1}"/>
              </a:ext>
            </a:extLst>
          </p:cNvPr>
          <p:cNvSpPr txBox="1"/>
          <p:nvPr/>
        </p:nvSpPr>
        <p:spPr>
          <a:xfrm>
            <a:off x="6197600" y="5334000"/>
            <a:ext cx="53848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In practice only one of these is negotiable: the tariff, with the offtaker.</a:t>
            </a:r>
          </a:p>
        </p:txBody>
      </p:sp>
    </p:spTree>
    <p:extLst>
      <p:ext uri="{BB962C8B-B14F-4D97-AF65-F5344CB8AC3E}">
        <p14:creationId xmlns:p14="http://schemas.microsoft.com/office/powerpoint/2010/main" val="2304768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96A744-F7A6-4FBB-86F0-4FF3667F7792}"/>
              </a:ext>
            </a:extLst>
          </p:cNvPr>
          <p:cNvSpPr txBox="1"/>
          <p:nvPr/>
        </p:nvSpPr>
        <p:spPr>
          <a:xfrm>
            <a:off x="609600" y="330200"/>
            <a:ext cx="109728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C55A11"/>
                </a:solidFill>
                <a:latin typeface="Calibri"/>
                <a:ea typeface="Calibri"/>
                <a:cs typeface="Calibri"/>
              </a:rPr>
              <a:t>WHAT WOULD HAVE TO BE TRUE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BE8441-16E7-4418-B508-A7A29F427C20}"/>
              </a:ext>
            </a:extLst>
          </p:cNvPr>
          <p:cNvSpPr txBox="1"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b="1">
                <a:solidFill>
                  <a:srgbClr val="1F3864"/>
                </a:solidFill>
                <a:latin typeface="Georgia"/>
              </a:rPr>
              <a:t>Only 3 of 49 scenarios clear a 10% return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834EC-B59F-4D14-9431-2FC418957E4E}"/>
              </a:ext>
            </a:extLst>
          </p:cNvPr>
          <p:cNvSpPr txBox="1"/>
          <p:nvPr/>
        </p:nvSpPr>
        <p:spPr>
          <a:xfrm>
            <a:off x="609600" y="1219200"/>
            <a:ext cx="10972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All three sit in the top-right corner: it takes a better tariff AND a better resource together, not either alone.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E7EDEF-DD74-48DD-B8D7-C870850CB255}"/>
              </a:ext>
            </a:extLst>
          </p:cNvPr>
          <p:cNvSpPr/>
          <p:nvPr/>
        </p:nvSpPr>
        <p:spPr>
          <a:xfrm>
            <a:off x="609600" y="1651000"/>
            <a:ext cx="10972800" cy="254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7CFE66-D70B-44B0-A903-6CF22985DEC9}"/>
              </a:ext>
            </a:extLst>
          </p:cNvPr>
          <p:cNvSpPr txBox="1"/>
          <p:nvPr/>
        </p:nvSpPr>
        <p:spPr>
          <a:xfrm>
            <a:off x="1778000" y="2133600"/>
            <a:ext cx="6578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PPA tariff (USD / kWh)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8F0CEE-29BD-447E-B954-5B534A51C8A8}"/>
              </a:ext>
            </a:extLst>
          </p:cNvPr>
          <p:cNvSpPr txBox="1"/>
          <p:nvPr/>
        </p:nvSpPr>
        <p:spPr>
          <a:xfrm>
            <a:off x="609600" y="2362200"/>
            <a:ext cx="10922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Net capacity factor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B53B9-2CEB-4EB7-88E4-6870BE8FDCFF}"/>
              </a:ext>
            </a:extLst>
          </p:cNvPr>
          <p:cNvSpPr txBox="1"/>
          <p:nvPr/>
        </p:nvSpPr>
        <p:spPr>
          <a:xfrm>
            <a:off x="8661400" y="21336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Range across the grid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275303-B6C3-4E4D-9B95-9C8B7D76F4EA}"/>
              </a:ext>
            </a:extLst>
          </p:cNvPr>
          <p:cNvSpPr txBox="1"/>
          <p:nvPr/>
        </p:nvSpPr>
        <p:spPr>
          <a:xfrm>
            <a:off x="8661400" y="2400300"/>
            <a:ext cx="2921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Project IRR spans 0.9% to 11.2% across the full 7x7 range.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F828CF-DDFA-4CB1-A788-2114A336AD9D}"/>
              </a:ext>
            </a:extLst>
          </p:cNvPr>
          <p:cNvSpPr txBox="1"/>
          <p:nvPr/>
        </p:nvSpPr>
        <p:spPr>
          <a:xfrm>
            <a:off x="8661400" y="30734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Only 3 of 49 clear 10%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51E89-FF91-41A9-8549-D9C94B6FABD4}"/>
              </a:ext>
            </a:extLst>
          </p:cNvPr>
          <p:cNvSpPr txBox="1"/>
          <p:nvPr/>
        </p:nvSpPr>
        <p:spPr>
          <a:xfrm>
            <a:off x="8661400" y="3340100"/>
            <a:ext cx="29210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Every one needs a capacity factor of 24.0% or better AND a tariff of 0.0850 or better — simultaneous outperformance on two independent variables.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06B3DB-55B0-4E4A-B262-B2E089F7F1CD}"/>
              </a:ext>
            </a:extLst>
          </p:cNvPr>
          <p:cNvSpPr txBox="1"/>
          <p:nvPr/>
        </p:nvSpPr>
        <p:spPr>
          <a:xfrm>
            <a:off x="8661400" y="44704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Base case sits mid-grid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8B2335-7FA2-4A10-8066-2241EBA07FE9}"/>
              </a:ext>
            </a:extLst>
          </p:cNvPr>
          <p:cNvSpPr txBox="1"/>
          <p:nvPr/>
        </p:nvSpPr>
        <p:spPr>
          <a:xfrm>
            <a:off x="8661400" y="4737100"/>
            <a:ext cx="2921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21.0% capacity factor at 0.0750/kWh returns 6.1%.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FD18CC-8AB3-47B5-88B2-5AD345E3E340}"/>
              </a:ext>
            </a:extLst>
          </p:cNvPr>
          <p:cNvSpPr txBox="1"/>
          <p:nvPr/>
        </p:nvSpPr>
        <p:spPr>
          <a:xfrm>
            <a:off x="8661400" y="5384800"/>
            <a:ext cx="292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Capex is the cleaner lever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6ECEF3-1950-4D89-9845-1E7555BCA059}"/>
              </a:ext>
            </a:extLst>
          </p:cNvPr>
          <p:cNvSpPr txBox="1"/>
          <p:nvPr/>
        </p:nvSpPr>
        <p:spPr>
          <a:xfrm>
            <a:off x="8661400" y="5651500"/>
            <a:ext cx="29210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A $5m saving is worth c.0.8pp of IRR, and it is within the sponsor's control in a way the weather is not.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4A6C58-A05D-4EBE-A945-BC60B4747D05}"/>
              </a:ext>
            </a:extLst>
          </p:cNvPr>
          <p:cNvSpPr/>
          <p:nvPr/>
        </p:nvSpPr>
        <p:spPr>
          <a:xfrm>
            <a:off x="1778000" y="2489200"/>
            <a:ext cx="914400" cy="3302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0.0600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E855A2-7312-4B44-9E9A-22B8C0A27C36}"/>
              </a:ext>
            </a:extLst>
          </p:cNvPr>
          <p:cNvSpPr/>
          <p:nvPr/>
        </p:nvSpPr>
        <p:spPr>
          <a:xfrm>
            <a:off x="2717800" y="2489200"/>
            <a:ext cx="914400" cy="3302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0.0650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4B5EE0-46E6-4E44-AE5B-F8C3F4698837}"/>
              </a:ext>
            </a:extLst>
          </p:cNvPr>
          <p:cNvSpPr/>
          <p:nvPr/>
        </p:nvSpPr>
        <p:spPr>
          <a:xfrm>
            <a:off x="3657600" y="2489200"/>
            <a:ext cx="914400" cy="3302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0.0700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E1168B-4E8D-4078-95CA-0C6FD051899C}"/>
              </a:ext>
            </a:extLst>
          </p:cNvPr>
          <p:cNvSpPr/>
          <p:nvPr/>
        </p:nvSpPr>
        <p:spPr>
          <a:xfrm>
            <a:off x="4597400" y="2489200"/>
            <a:ext cx="914400" cy="3302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0.0750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5D9E40-5369-4A67-8FC8-667FF300820E}"/>
              </a:ext>
            </a:extLst>
          </p:cNvPr>
          <p:cNvSpPr/>
          <p:nvPr/>
        </p:nvSpPr>
        <p:spPr>
          <a:xfrm>
            <a:off x="5537200" y="2489200"/>
            <a:ext cx="914400" cy="3302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0.0800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85F24F-A2BB-4BE2-B0E3-C7944A913A4F}"/>
              </a:ext>
            </a:extLst>
          </p:cNvPr>
          <p:cNvSpPr/>
          <p:nvPr/>
        </p:nvSpPr>
        <p:spPr>
          <a:xfrm>
            <a:off x="6477000" y="2489200"/>
            <a:ext cx="914400" cy="3302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0.0850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A6F665-387F-4ACC-8B82-E591F1EAF9C9}"/>
              </a:ext>
            </a:extLst>
          </p:cNvPr>
          <p:cNvSpPr/>
          <p:nvPr/>
        </p:nvSpPr>
        <p:spPr>
          <a:xfrm>
            <a:off x="7416800" y="2489200"/>
            <a:ext cx="914400" cy="330200"/>
          </a:xfrm>
          <a:prstGeom prst="rect">
            <a:avLst/>
          </a:prstGeom>
          <a:solidFill>
            <a:srgbClr val="1F386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0.0900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40E0C5-4282-4947-8D82-F6495D56B1DE}"/>
              </a:ext>
            </a:extLst>
          </p:cNvPr>
          <p:cNvSpPr/>
          <p:nvPr/>
        </p:nvSpPr>
        <p:spPr>
          <a:xfrm>
            <a:off x="609600" y="2870200"/>
            <a:ext cx="1092200" cy="3810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16.5%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73736B-35E4-44B3-8DC5-923AE5E1A663}"/>
              </a:ext>
            </a:extLst>
          </p:cNvPr>
          <p:cNvSpPr/>
          <p:nvPr/>
        </p:nvSpPr>
        <p:spPr>
          <a:xfrm>
            <a:off x="609600" y="3276600"/>
            <a:ext cx="1092200" cy="3810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18.0%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15AD13-1D50-45A2-BC1E-7C3CB11540CC}"/>
              </a:ext>
            </a:extLst>
          </p:cNvPr>
          <p:cNvSpPr/>
          <p:nvPr/>
        </p:nvSpPr>
        <p:spPr>
          <a:xfrm>
            <a:off x="609600" y="3683000"/>
            <a:ext cx="1092200" cy="3810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19.5%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4B9B1B-E98E-4F67-993C-850D9CF7F080}"/>
              </a:ext>
            </a:extLst>
          </p:cNvPr>
          <p:cNvSpPr/>
          <p:nvPr/>
        </p:nvSpPr>
        <p:spPr>
          <a:xfrm>
            <a:off x="609600" y="4089400"/>
            <a:ext cx="1092200" cy="3810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21.0%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0E1461-FDB9-4535-A1AC-F5B92D5140AD}"/>
              </a:ext>
            </a:extLst>
          </p:cNvPr>
          <p:cNvSpPr/>
          <p:nvPr/>
        </p:nvSpPr>
        <p:spPr>
          <a:xfrm>
            <a:off x="609600" y="4495800"/>
            <a:ext cx="1092200" cy="3810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22.5%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292BA3-78B1-493E-889C-D0C5EAA66367}"/>
              </a:ext>
            </a:extLst>
          </p:cNvPr>
          <p:cNvSpPr/>
          <p:nvPr/>
        </p:nvSpPr>
        <p:spPr>
          <a:xfrm>
            <a:off x="609600" y="4902200"/>
            <a:ext cx="1092200" cy="3810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24.0%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BDB5DB-0F22-4FA4-8F4E-0FAA51F390ED}"/>
              </a:ext>
            </a:extLst>
          </p:cNvPr>
          <p:cNvSpPr/>
          <p:nvPr/>
        </p:nvSpPr>
        <p:spPr>
          <a:xfrm>
            <a:off x="609600" y="5308600"/>
            <a:ext cx="1092200" cy="381000"/>
          </a:xfrm>
          <a:prstGeom prst="rect">
            <a:avLst/>
          </a:prstGeom>
          <a:solidFill>
            <a:srgbClr val="EDF0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25.5%</a:t>
            </a:r>
          </a:p>
        </p:txBody>
      </p:sp>
      <p:sp>
        <p:nvSpPr>
          <p:cNvPr id="400" name="HeatCell401"/>
          <p:cNvSpPr/>
          <p:nvPr/>
        </p:nvSpPr>
        <p:spPr>
          <a:xfrm>
            <a:off x="1778000" y="2870200"/>
            <a:ext cx="914400" cy="381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0.9%</a:t>
            </a:r>
          </a:p>
        </p:txBody>
      </p:sp>
      <p:sp>
        <p:nvSpPr>
          <p:cNvPr id="401" name="HeatCell402"/>
          <p:cNvSpPr/>
          <p:nvPr/>
        </p:nvSpPr>
        <p:spPr>
          <a:xfrm>
            <a:off x="2717800" y="2870200"/>
            <a:ext cx="914400" cy="381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1.7%</a:t>
            </a:r>
          </a:p>
        </p:txBody>
      </p:sp>
      <p:sp>
        <p:nvSpPr>
          <p:cNvPr id="402" name="HeatCell403"/>
          <p:cNvSpPr/>
          <p:nvPr/>
        </p:nvSpPr>
        <p:spPr>
          <a:xfrm>
            <a:off x="3657600" y="2870200"/>
            <a:ext cx="914400" cy="381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2.5%</a:t>
            </a:r>
          </a:p>
        </p:txBody>
      </p:sp>
      <p:sp>
        <p:nvSpPr>
          <p:cNvPr id="403" name="HeatCell404"/>
          <p:cNvSpPr/>
          <p:nvPr/>
        </p:nvSpPr>
        <p:spPr>
          <a:xfrm>
            <a:off x="4597400" y="2870200"/>
            <a:ext cx="914400" cy="381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3.2%</a:t>
            </a:r>
          </a:p>
        </p:txBody>
      </p:sp>
      <p:sp>
        <p:nvSpPr>
          <p:cNvPr id="404" name="HeatCell405"/>
          <p:cNvSpPr/>
          <p:nvPr/>
        </p:nvSpPr>
        <p:spPr>
          <a:xfrm>
            <a:off x="5537200" y="28702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4.0%</a:t>
            </a:r>
          </a:p>
        </p:txBody>
      </p:sp>
      <p:sp>
        <p:nvSpPr>
          <p:cNvPr id="405" name="HeatCell406"/>
          <p:cNvSpPr/>
          <p:nvPr/>
        </p:nvSpPr>
        <p:spPr>
          <a:xfrm>
            <a:off x="6477000" y="28702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4.7%</a:t>
            </a:r>
          </a:p>
        </p:txBody>
      </p:sp>
      <p:sp>
        <p:nvSpPr>
          <p:cNvPr id="406" name="HeatCell407"/>
          <p:cNvSpPr/>
          <p:nvPr/>
        </p:nvSpPr>
        <p:spPr>
          <a:xfrm>
            <a:off x="7416800" y="28702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5.4%</a:t>
            </a:r>
          </a:p>
        </p:txBody>
      </p:sp>
      <p:sp>
        <p:nvSpPr>
          <p:cNvPr id="407" name="HeatCell408"/>
          <p:cNvSpPr/>
          <p:nvPr/>
        </p:nvSpPr>
        <p:spPr>
          <a:xfrm>
            <a:off x="1778000" y="3276600"/>
            <a:ext cx="914400" cy="381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1.8%</a:t>
            </a:r>
          </a:p>
        </p:txBody>
      </p:sp>
      <p:sp>
        <p:nvSpPr>
          <p:cNvPr id="408" name="HeatCell409"/>
          <p:cNvSpPr/>
          <p:nvPr/>
        </p:nvSpPr>
        <p:spPr>
          <a:xfrm>
            <a:off x="2717800" y="3276600"/>
            <a:ext cx="914400" cy="381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2.6%</a:t>
            </a:r>
          </a:p>
        </p:txBody>
      </p:sp>
      <p:sp>
        <p:nvSpPr>
          <p:cNvPr id="409" name="HeatCell410"/>
          <p:cNvSpPr/>
          <p:nvPr/>
        </p:nvSpPr>
        <p:spPr>
          <a:xfrm>
            <a:off x="3657600" y="3276600"/>
            <a:ext cx="914400" cy="381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3.4%</a:t>
            </a:r>
          </a:p>
        </p:txBody>
      </p:sp>
      <p:sp>
        <p:nvSpPr>
          <p:cNvPr id="410" name="HeatCell411"/>
          <p:cNvSpPr/>
          <p:nvPr/>
        </p:nvSpPr>
        <p:spPr>
          <a:xfrm>
            <a:off x="4597400" y="32766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4.2%</a:t>
            </a:r>
          </a:p>
        </p:txBody>
      </p:sp>
      <p:sp>
        <p:nvSpPr>
          <p:cNvPr id="411" name="HeatCell412"/>
          <p:cNvSpPr/>
          <p:nvPr/>
        </p:nvSpPr>
        <p:spPr>
          <a:xfrm>
            <a:off x="5537200" y="32766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5.0%</a:t>
            </a:r>
          </a:p>
        </p:txBody>
      </p:sp>
      <p:sp>
        <p:nvSpPr>
          <p:cNvPr id="412" name="HeatCell413"/>
          <p:cNvSpPr/>
          <p:nvPr/>
        </p:nvSpPr>
        <p:spPr>
          <a:xfrm>
            <a:off x="6477000" y="32766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5.7%</a:t>
            </a:r>
          </a:p>
        </p:txBody>
      </p:sp>
      <p:sp>
        <p:nvSpPr>
          <p:cNvPr id="413" name="HeatCell414"/>
          <p:cNvSpPr/>
          <p:nvPr/>
        </p:nvSpPr>
        <p:spPr>
          <a:xfrm>
            <a:off x="7416800" y="3276600"/>
            <a:ext cx="914400" cy="38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6.4%</a:t>
            </a:r>
          </a:p>
        </p:txBody>
      </p:sp>
      <p:sp>
        <p:nvSpPr>
          <p:cNvPr id="414" name="HeatCell415"/>
          <p:cNvSpPr/>
          <p:nvPr/>
        </p:nvSpPr>
        <p:spPr>
          <a:xfrm>
            <a:off x="1778000" y="3683000"/>
            <a:ext cx="914400" cy="381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2.6%</a:t>
            </a:r>
          </a:p>
        </p:txBody>
      </p:sp>
      <p:sp>
        <p:nvSpPr>
          <p:cNvPr id="415" name="HeatCell416"/>
          <p:cNvSpPr/>
          <p:nvPr/>
        </p:nvSpPr>
        <p:spPr>
          <a:xfrm>
            <a:off x="2717800" y="3683000"/>
            <a:ext cx="914400" cy="381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3.5%</a:t>
            </a:r>
          </a:p>
        </p:txBody>
      </p:sp>
      <p:sp>
        <p:nvSpPr>
          <p:cNvPr id="416" name="HeatCell417"/>
          <p:cNvSpPr/>
          <p:nvPr/>
        </p:nvSpPr>
        <p:spPr>
          <a:xfrm>
            <a:off x="3657600" y="36830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4.4%</a:t>
            </a:r>
          </a:p>
        </p:txBody>
      </p:sp>
      <p:sp>
        <p:nvSpPr>
          <p:cNvPr id="417" name="HeatCell418"/>
          <p:cNvSpPr/>
          <p:nvPr/>
        </p:nvSpPr>
        <p:spPr>
          <a:xfrm>
            <a:off x="4597400" y="36830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5.2%</a:t>
            </a:r>
          </a:p>
        </p:txBody>
      </p:sp>
      <p:sp>
        <p:nvSpPr>
          <p:cNvPr id="418" name="HeatCell419"/>
          <p:cNvSpPr/>
          <p:nvPr/>
        </p:nvSpPr>
        <p:spPr>
          <a:xfrm>
            <a:off x="5537200" y="36830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5.9%</a:t>
            </a:r>
          </a:p>
        </p:txBody>
      </p:sp>
      <p:sp>
        <p:nvSpPr>
          <p:cNvPr id="419" name="HeatCell420"/>
          <p:cNvSpPr/>
          <p:nvPr/>
        </p:nvSpPr>
        <p:spPr>
          <a:xfrm>
            <a:off x="6477000" y="3683000"/>
            <a:ext cx="914400" cy="38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6.7%</a:t>
            </a:r>
          </a:p>
        </p:txBody>
      </p:sp>
      <p:sp>
        <p:nvSpPr>
          <p:cNvPr id="420" name="HeatCell421"/>
          <p:cNvSpPr/>
          <p:nvPr/>
        </p:nvSpPr>
        <p:spPr>
          <a:xfrm>
            <a:off x="7416800" y="3683000"/>
            <a:ext cx="914400" cy="38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7.4%</a:t>
            </a:r>
          </a:p>
        </p:txBody>
      </p:sp>
      <p:sp>
        <p:nvSpPr>
          <p:cNvPr id="421" name="HeatCell422"/>
          <p:cNvSpPr/>
          <p:nvPr/>
        </p:nvSpPr>
        <p:spPr>
          <a:xfrm>
            <a:off x="1778000" y="4089400"/>
            <a:ext cx="914400" cy="381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3.4%</a:t>
            </a:r>
          </a:p>
        </p:txBody>
      </p:sp>
      <p:sp>
        <p:nvSpPr>
          <p:cNvPr id="422" name="HeatCell423"/>
          <p:cNvSpPr/>
          <p:nvPr/>
        </p:nvSpPr>
        <p:spPr>
          <a:xfrm>
            <a:off x="2717800" y="40894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4.4%</a:t>
            </a:r>
          </a:p>
        </p:txBody>
      </p:sp>
      <p:sp>
        <p:nvSpPr>
          <p:cNvPr id="423" name="HeatCell424"/>
          <p:cNvSpPr/>
          <p:nvPr/>
        </p:nvSpPr>
        <p:spPr>
          <a:xfrm>
            <a:off x="3657600" y="40894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5.2%</a:t>
            </a:r>
          </a:p>
        </p:txBody>
      </p:sp>
      <p:sp>
        <p:nvSpPr>
          <p:cNvPr id="424" name="HeatCell425"/>
          <p:cNvSpPr/>
          <p:nvPr/>
        </p:nvSpPr>
        <p:spPr>
          <a:xfrm>
            <a:off x="4597400" y="4089400"/>
            <a:ext cx="914400" cy="38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6.1%</a:t>
            </a:r>
          </a:p>
        </p:txBody>
      </p:sp>
      <p:sp>
        <p:nvSpPr>
          <p:cNvPr id="425" name="HeatCell426"/>
          <p:cNvSpPr/>
          <p:nvPr/>
        </p:nvSpPr>
        <p:spPr>
          <a:xfrm>
            <a:off x="5537200" y="4089400"/>
            <a:ext cx="914400" cy="38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6.9%</a:t>
            </a:r>
          </a:p>
        </p:txBody>
      </p:sp>
      <p:sp>
        <p:nvSpPr>
          <p:cNvPr id="426" name="HeatCell427"/>
          <p:cNvSpPr/>
          <p:nvPr/>
        </p:nvSpPr>
        <p:spPr>
          <a:xfrm>
            <a:off x="6477000" y="4089400"/>
            <a:ext cx="914400" cy="38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7.7%</a:t>
            </a:r>
          </a:p>
        </p:txBody>
      </p:sp>
      <p:sp>
        <p:nvSpPr>
          <p:cNvPr id="427" name="HeatCell428"/>
          <p:cNvSpPr/>
          <p:nvPr/>
        </p:nvSpPr>
        <p:spPr>
          <a:xfrm>
            <a:off x="7416800" y="4089400"/>
            <a:ext cx="914400" cy="381000"/>
          </a:xfrm>
          <a:prstGeom prst="rect">
            <a:avLst/>
          </a:prstGeom>
          <a:solidFill>
            <a:srgbClr val="C6E0B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8.4%</a:t>
            </a:r>
          </a:p>
        </p:txBody>
      </p:sp>
      <p:sp>
        <p:nvSpPr>
          <p:cNvPr id="428" name="HeatCell429"/>
          <p:cNvSpPr/>
          <p:nvPr/>
        </p:nvSpPr>
        <p:spPr>
          <a:xfrm>
            <a:off x="1778000" y="44958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4.2%</a:t>
            </a:r>
          </a:p>
        </p:txBody>
      </p:sp>
      <p:sp>
        <p:nvSpPr>
          <p:cNvPr id="429" name="HeatCell430"/>
          <p:cNvSpPr/>
          <p:nvPr/>
        </p:nvSpPr>
        <p:spPr>
          <a:xfrm>
            <a:off x="2717800" y="44958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5.2%</a:t>
            </a:r>
          </a:p>
        </p:txBody>
      </p:sp>
      <p:sp>
        <p:nvSpPr>
          <p:cNvPr id="430" name="HeatCell431"/>
          <p:cNvSpPr/>
          <p:nvPr/>
        </p:nvSpPr>
        <p:spPr>
          <a:xfrm>
            <a:off x="3657600" y="4495800"/>
            <a:ext cx="914400" cy="38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6.1%</a:t>
            </a:r>
          </a:p>
        </p:txBody>
      </p:sp>
      <p:sp>
        <p:nvSpPr>
          <p:cNvPr id="431" name="HeatCell432"/>
          <p:cNvSpPr/>
          <p:nvPr/>
        </p:nvSpPr>
        <p:spPr>
          <a:xfrm>
            <a:off x="4597400" y="4495800"/>
            <a:ext cx="914400" cy="38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6.9%</a:t>
            </a:r>
          </a:p>
        </p:txBody>
      </p:sp>
      <p:sp>
        <p:nvSpPr>
          <p:cNvPr id="432" name="HeatCell433"/>
          <p:cNvSpPr/>
          <p:nvPr/>
        </p:nvSpPr>
        <p:spPr>
          <a:xfrm>
            <a:off x="5537200" y="4495800"/>
            <a:ext cx="914400" cy="38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7.8%</a:t>
            </a:r>
          </a:p>
        </p:txBody>
      </p:sp>
      <p:sp>
        <p:nvSpPr>
          <p:cNvPr id="433" name="HeatCell434"/>
          <p:cNvSpPr/>
          <p:nvPr/>
        </p:nvSpPr>
        <p:spPr>
          <a:xfrm>
            <a:off x="6477000" y="4495800"/>
            <a:ext cx="914400" cy="381000"/>
          </a:xfrm>
          <a:prstGeom prst="rect">
            <a:avLst/>
          </a:prstGeom>
          <a:solidFill>
            <a:srgbClr val="C6E0B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8.6%</a:t>
            </a:r>
          </a:p>
        </p:txBody>
      </p:sp>
      <p:sp>
        <p:nvSpPr>
          <p:cNvPr id="434" name="HeatCell435"/>
          <p:cNvSpPr/>
          <p:nvPr/>
        </p:nvSpPr>
        <p:spPr>
          <a:xfrm>
            <a:off x="7416800" y="4495800"/>
            <a:ext cx="914400" cy="381000"/>
          </a:xfrm>
          <a:prstGeom prst="rect">
            <a:avLst/>
          </a:prstGeom>
          <a:solidFill>
            <a:srgbClr val="C6E0B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9.4%</a:t>
            </a:r>
          </a:p>
        </p:txBody>
      </p:sp>
      <p:sp>
        <p:nvSpPr>
          <p:cNvPr id="435" name="HeatCell436"/>
          <p:cNvSpPr/>
          <p:nvPr/>
        </p:nvSpPr>
        <p:spPr>
          <a:xfrm>
            <a:off x="1778000" y="49022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5.0%</a:t>
            </a:r>
          </a:p>
        </p:txBody>
      </p:sp>
      <p:sp>
        <p:nvSpPr>
          <p:cNvPr id="436" name="HeatCell437"/>
          <p:cNvSpPr/>
          <p:nvPr/>
        </p:nvSpPr>
        <p:spPr>
          <a:xfrm>
            <a:off x="2717800" y="49022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5.9%</a:t>
            </a:r>
          </a:p>
        </p:txBody>
      </p:sp>
      <p:sp>
        <p:nvSpPr>
          <p:cNvPr id="437" name="HeatCell438"/>
          <p:cNvSpPr/>
          <p:nvPr/>
        </p:nvSpPr>
        <p:spPr>
          <a:xfrm>
            <a:off x="3657600" y="4902200"/>
            <a:ext cx="914400" cy="38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6.9%</a:t>
            </a:r>
          </a:p>
        </p:txBody>
      </p:sp>
      <p:sp>
        <p:nvSpPr>
          <p:cNvPr id="438" name="HeatCell439"/>
          <p:cNvSpPr/>
          <p:nvPr/>
        </p:nvSpPr>
        <p:spPr>
          <a:xfrm>
            <a:off x="4597400" y="4902200"/>
            <a:ext cx="914400" cy="38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7.8%</a:t>
            </a:r>
          </a:p>
        </p:txBody>
      </p:sp>
      <p:sp>
        <p:nvSpPr>
          <p:cNvPr id="439" name="HeatCell440"/>
          <p:cNvSpPr/>
          <p:nvPr/>
        </p:nvSpPr>
        <p:spPr>
          <a:xfrm>
            <a:off x="5537200" y="4902200"/>
            <a:ext cx="914400" cy="381000"/>
          </a:xfrm>
          <a:prstGeom prst="rect">
            <a:avLst/>
          </a:prstGeom>
          <a:solidFill>
            <a:srgbClr val="C6E0B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8.6%</a:t>
            </a:r>
          </a:p>
        </p:txBody>
      </p:sp>
      <p:sp>
        <p:nvSpPr>
          <p:cNvPr id="440" name="HeatCell441"/>
          <p:cNvSpPr/>
          <p:nvPr/>
        </p:nvSpPr>
        <p:spPr>
          <a:xfrm>
            <a:off x="6477000" y="4902200"/>
            <a:ext cx="914400" cy="381000"/>
          </a:xfrm>
          <a:prstGeom prst="rect">
            <a:avLst/>
          </a:prstGeom>
          <a:solidFill>
            <a:srgbClr val="C6E0B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9.5%</a:t>
            </a:r>
          </a:p>
        </p:txBody>
      </p:sp>
      <p:sp>
        <p:nvSpPr>
          <p:cNvPr id="441" name="HeatCell442"/>
          <p:cNvSpPr/>
          <p:nvPr/>
        </p:nvSpPr>
        <p:spPr>
          <a:xfrm>
            <a:off x="7416800" y="4902200"/>
            <a:ext cx="914400" cy="381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10.3%</a:t>
            </a:r>
          </a:p>
        </p:txBody>
      </p:sp>
      <p:sp>
        <p:nvSpPr>
          <p:cNvPr id="442" name="HeatCell443"/>
          <p:cNvSpPr/>
          <p:nvPr/>
        </p:nvSpPr>
        <p:spPr>
          <a:xfrm>
            <a:off x="1778000" y="5308600"/>
            <a:ext cx="914400" cy="38100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5.7%</a:t>
            </a:r>
          </a:p>
        </p:txBody>
      </p:sp>
      <p:sp>
        <p:nvSpPr>
          <p:cNvPr id="443" name="HeatCell444"/>
          <p:cNvSpPr/>
          <p:nvPr/>
        </p:nvSpPr>
        <p:spPr>
          <a:xfrm>
            <a:off x="2717800" y="5308600"/>
            <a:ext cx="914400" cy="38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6.7%</a:t>
            </a:r>
          </a:p>
        </p:txBody>
      </p:sp>
      <p:sp>
        <p:nvSpPr>
          <p:cNvPr id="444" name="HeatCell445"/>
          <p:cNvSpPr/>
          <p:nvPr/>
        </p:nvSpPr>
        <p:spPr>
          <a:xfrm>
            <a:off x="3657600" y="5308600"/>
            <a:ext cx="914400" cy="381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7.7%</a:t>
            </a:r>
          </a:p>
        </p:txBody>
      </p:sp>
      <p:sp>
        <p:nvSpPr>
          <p:cNvPr id="445" name="HeatCell446"/>
          <p:cNvSpPr/>
          <p:nvPr/>
        </p:nvSpPr>
        <p:spPr>
          <a:xfrm>
            <a:off x="4597400" y="5308600"/>
            <a:ext cx="914400" cy="381000"/>
          </a:xfrm>
          <a:prstGeom prst="rect">
            <a:avLst/>
          </a:prstGeom>
          <a:solidFill>
            <a:srgbClr val="C6E0B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8.6%</a:t>
            </a:r>
          </a:p>
        </p:txBody>
      </p:sp>
      <p:sp>
        <p:nvSpPr>
          <p:cNvPr id="446" name="HeatCell447"/>
          <p:cNvSpPr/>
          <p:nvPr/>
        </p:nvSpPr>
        <p:spPr>
          <a:xfrm>
            <a:off x="5537200" y="5308600"/>
            <a:ext cx="914400" cy="381000"/>
          </a:xfrm>
          <a:prstGeom prst="rect">
            <a:avLst/>
          </a:prstGeom>
          <a:solidFill>
            <a:srgbClr val="C6E0B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0" dirty="0">
                <a:solidFill>
                  <a:srgbClr val="1F3864"/>
                </a:solidFill>
                <a:latin typeface="Calibri"/>
              </a:rPr>
              <a:t>9.5%</a:t>
            </a:r>
          </a:p>
        </p:txBody>
      </p:sp>
      <p:sp>
        <p:nvSpPr>
          <p:cNvPr id="447" name="HeatCell448"/>
          <p:cNvSpPr/>
          <p:nvPr/>
        </p:nvSpPr>
        <p:spPr>
          <a:xfrm>
            <a:off x="6477000" y="5308600"/>
            <a:ext cx="914400" cy="381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10.3%</a:t>
            </a:r>
          </a:p>
        </p:txBody>
      </p:sp>
      <p:sp>
        <p:nvSpPr>
          <p:cNvPr id="448" name="HeatCell449"/>
          <p:cNvSpPr/>
          <p:nvPr/>
        </p:nvSpPr>
        <p:spPr>
          <a:xfrm>
            <a:off x="7416800" y="5308600"/>
            <a:ext cx="914400" cy="3810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11.2%</a:t>
            </a:r>
          </a:p>
        </p:txBody>
      </p:sp>
      <p:sp>
        <p:nvSpPr>
          <p:cNvPr id="449" name="HeatCell450"/>
          <p:cNvSpPr/>
          <p:nvPr/>
        </p:nvSpPr>
        <p:spPr>
          <a:xfrm>
            <a:off x="4559300" y="4051300"/>
            <a:ext cx="965200" cy="431800"/>
          </a:xfrm>
          <a:prstGeom prst="rect">
            <a:avLst/>
          </a:prstGeom>
          <a:noFill/>
          <a:ln w="28575">
            <a:solidFill>
              <a:srgbClr val="C55A11"/>
            </a:solidFill>
          </a:ln>
        </p:spPr>
        <p:txBody>
          <a:bodyPr wrap="none" lIns="0" tIns="0" rIns="0" bIns="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9085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501"/>
          <p:cNvSpPr/>
          <p:nvPr/>
        </p:nvSpPr>
        <p:spPr>
          <a:xfrm>
            <a:off x="609600" y="330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C55A11"/>
                </a:solidFill>
                <a:latin typeface="Calibri"/>
              </a:rPr>
              <a:t>DIF FUNDING STRUCTURE — SOURCES AND USES</a:t>
            </a:r>
          </a:p>
        </p:txBody>
      </p:sp>
      <p:sp>
        <p:nvSpPr>
          <p:cNvPr id="501" name="S502"/>
          <p:cNvSpPr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800" b="1" dirty="0">
                <a:solidFill>
                  <a:srgbClr val="1F3864"/>
                </a:solidFill>
                <a:latin typeface="Georgia"/>
              </a:rPr>
              <a:t>A $34.0m senior facility at 56.6% gearing</a:t>
            </a:r>
          </a:p>
        </p:txBody>
      </p:sp>
      <p:sp>
        <p:nvSpPr>
          <p:cNvPr id="502" name="S503"/>
          <p:cNvSpPr/>
          <p:nvPr/>
        </p:nvSpPr>
        <p:spPr>
          <a:xfrm>
            <a:off x="609600" y="12192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0" dirty="0">
                <a:solidFill>
                  <a:srgbClr val="404040"/>
                </a:solidFill>
                <a:latin typeface="Calibri"/>
              </a:rPr>
              <a:t>Well inside the NIF's 70% cap, leaving $8.03m of unused debt capacity.</a:t>
            </a:r>
          </a:p>
        </p:txBody>
      </p:sp>
      <p:sp>
        <p:nvSpPr>
          <p:cNvPr id="503" name="S504"/>
          <p:cNvSpPr/>
          <p:nvPr/>
        </p:nvSpPr>
        <p:spPr>
          <a:xfrm>
            <a:off x="609600" y="1651000"/>
            <a:ext cx="10972800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4" name="S505"/>
          <p:cNvSpPr/>
          <p:nvPr/>
        </p:nvSpPr>
        <p:spPr>
          <a:xfrm>
            <a:off x="1219200" y="19050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b="1" dirty="0">
                <a:solidFill>
                  <a:srgbClr val="404040"/>
                </a:solidFill>
                <a:latin typeface="Calibri"/>
              </a:rPr>
              <a:t>$61.88m</a:t>
            </a:r>
          </a:p>
        </p:txBody>
      </p:sp>
      <p:sp>
        <p:nvSpPr>
          <p:cNvPr id="505" name="S506"/>
          <p:cNvSpPr/>
          <p:nvPr/>
        </p:nvSpPr>
        <p:spPr>
          <a:xfrm>
            <a:off x="4013200" y="19050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b="1" dirty="0">
                <a:solidFill>
                  <a:srgbClr val="404040"/>
                </a:solidFill>
                <a:latin typeface="Calibri"/>
              </a:rPr>
              <a:t>$61.88m</a:t>
            </a:r>
          </a:p>
        </p:txBody>
      </p:sp>
      <p:sp>
        <p:nvSpPr>
          <p:cNvPr id="506" name="S507"/>
          <p:cNvSpPr/>
          <p:nvPr/>
        </p:nvSpPr>
        <p:spPr>
          <a:xfrm>
            <a:off x="1219200" y="2286000"/>
            <a:ext cx="2159000" cy="1816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DIF senior debt</a:t>
            </a:r>
          </a:p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/>
              </a:rPr>
              <a:t>$33.97m</a:t>
            </a:r>
          </a:p>
        </p:txBody>
      </p:sp>
      <p:sp>
        <p:nvSpPr>
          <p:cNvPr id="507" name="S508"/>
          <p:cNvSpPr/>
          <p:nvPr/>
        </p:nvSpPr>
        <p:spPr>
          <a:xfrm>
            <a:off x="1219200" y="4102100"/>
            <a:ext cx="2159000" cy="1485900"/>
          </a:xfrm>
          <a:prstGeom prst="rect">
            <a:avLst/>
          </a:prstGeom>
          <a:solidFill>
            <a:srgbClr val="8FAAD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0" dirty="0">
                <a:solidFill>
                  <a:srgbClr val="1F3864"/>
                </a:solidFill>
                <a:latin typeface="Calibri"/>
              </a:rPr>
              <a:t>Sponsor equity</a:t>
            </a:r>
          </a:p>
          <a:p>
            <a:pPr algn="ctr">
              <a:buNone/>
            </a:pPr>
            <a:r>
              <a:rPr lang="en-US" sz="1900" b="1" dirty="0">
                <a:solidFill>
                  <a:srgbClr val="1F3864"/>
                </a:solidFill>
                <a:latin typeface="Georgia"/>
              </a:rPr>
              <a:t>$27.91m</a:t>
            </a:r>
          </a:p>
        </p:txBody>
      </p:sp>
      <p:sp>
        <p:nvSpPr>
          <p:cNvPr id="508" name="S509"/>
          <p:cNvSpPr/>
          <p:nvPr/>
        </p:nvSpPr>
        <p:spPr>
          <a:xfrm>
            <a:off x="4013200" y="2286000"/>
            <a:ext cx="2159000" cy="32004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Construction capex</a:t>
            </a:r>
          </a:p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/>
              </a:rPr>
              <a:t>$60.00m</a:t>
            </a:r>
          </a:p>
        </p:txBody>
      </p:sp>
      <p:sp>
        <p:nvSpPr>
          <p:cNvPr id="509" name="S510"/>
          <p:cNvSpPr/>
          <p:nvPr/>
        </p:nvSpPr>
        <p:spPr>
          <a:xfrm>
            <a:off x="4013200" y="5486400"/>
            <a:ext cx="2159000" cy="10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0" name="S511"/>
          <p:cNvSpPr/>
          <p:nvPr/>
        </p:nvSpPr>
        <p:spPr>
          <a:xfrm>
            <a:off x="4013200" y="60198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C55A11"/>
                </a:solidFill>
                <a:latin typeface="Calibri"/>
              </a:rPr>
              <a:t>Debt service reserve   $1.88m</a:t>
            </a:r>
          </a:p>
        </p:txBody>
      </p:sp>
      <p:sp>
        <p:nvSpPr>
          <p:cNvPr id="511" name="S512"/>
          <p:cNvSpPr/>
          <p:nvPr/>
        </p:nvSpPr>
        <p:spPr>
          <a:xfrm>
            <a:off x="1016000" y="5588000"/>
            <a:ext cx="5969000" cy="190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2" name="S513"/>
          <p:cNvSpPr/>
          <p:nvPr/>
        </p:nvSpPr>
        <p:spPr>
          <a:xfrm>
            <a:off x="1219200" y="56896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/>
              </a:rPr>
              <a:t>SOURCES</a:t>
            </a:r>
          </a:p>
        </p:txBody>
      </p:sp>
      <p:sp>
        <p:nvSpPr>
          <p:cNvPr id="513" name="S514"/>
          <p:cNvSpPr/>
          <p:nvPr/>
        </p:nvSpPr>
        <p:spPr>
          <a:xfrm>
            <a:off x="4013200" y="56896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/>
              </a:rPr>
              <a:t>USES</a:t>
            </a:r>
          </a:p>
        </p:txBody>
      </p:sp>
      <p:sp>
        <p:nvSpPr>
          <p:cNvPr id="514" name="S515"/>
          <p:cNvSpPr/>
          <p:nvPr/>
        </p:nvSpPr>
        <p:spPr>
          <a:xfrm>
            <a:off x="7467600" y="2235200"/>
            <a:ext cx="4114800" cy="8128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5" name="S516"/>
          <p:cNvSpPr/>
          <p:nvPr/>
        </p:nvSpPr>
        <p:spPr>
          <a:xfrm>
            <a:off x="7696200" y="2362200"/>
            <a:ext cx="365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0" dirty="0">
                <a:solidFill>
                  <a:srgbClr val="404040"/>
                </a:solidFill>
                <a:latin typeface="Calibri"/>
              </a:rPr>
              <a:t>Gearing achieved</a:t>
            </a:r>
          </a:p>
        </p:txBody>
      </p:sp>
      <p:sp>
        <p:nvSpPr>
          <p:cNvPr id="516" name="S517"/>
          <p:cNvSpPr/>
          <p:nvPr/>
        </p:nvSpPr>
        <p:spPr>
          <a:xfrm>
            <a:off x="7696200" y="2628900"/>
            <a:ext cx="365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F3864"/>
                </a:solidFill>
                <a:latin typeface="Georgia"/>
              </a:rPr>
              <a:t>56.6%</a:t>
            </a:r>
          </a:p>
        </p:txBody>
      </p:sp>
      <p:sp>
        <p:nvSpPr>
          <p:cNvPr id="517" name="S518"/>
          <p:cNvSpPr/>
          <p:nvPr/>
        </p:nvSpPr>
        <p:spPr>
          <a:xfrm>
            <a:off x="7467600" y="3175000"/>
            <a:ext cx="4114800" cy="8128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8" name="S519"/>
          <p:cNvSpPr/>
          <p:nvPr/>
        </p:nvSpPr>
        <p:spPr>
          <a:xfrm>
            <a:off x="7696200" y="3302000"/>
            <a:ext cx="365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0" dirty="0">
                <a:solidFill>
                  <a:srgbClr val="404040"/>
                </a:solidFill>
                <a:latin typeface="Calibri"/>
              </a:rPr>
              <a:t>DIF gearing cap</a:t>
            </a:r>
          </a:p>
        </p:txBody>
      </p:sp>
      <p:sp>
        <p:nvSpPr>
          <p:cNvPr id="519" name="S520"/>
          <p:cNvSpPr/>
          <p:nvPr/>
        </p:nvSpPr>
        <p:spPr>
          <a:xfrm>
            <a:off x="7696200" y="3568700"/>
            <a:ext cx="365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F3864"/>
                </a:solidFill>
                <a:latin typeface="Georgia"/>
              </a:rPr>
              <a:t>70.0%</a:t>
            </a:r>
          </a:p>
        </p:txBody>
      </p:sp>
      <p:sp>
        <p:nvSpPr>
          <p:cNvPr id="520" name="S521"/>
          <p:cNvSpPr/>
          <p:nvPr/>
        </p:nvSpPr>
        <p:spPr>
          <a:xfrm>
            <a:off x="7467600" y="4114800"/>
            <a:ext cx="4114800" cy="8128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1" name="S522"/>
          <p:cNvSpPr/>
          <p:nvPr/>
        </p:nvSpPr>
        <p:spPr>
          <a:xfrm>
            <a:off x="7696200" y="4241800"/>
            <a:ext cx="365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0" dirty="0">
                <a:solidFill>
                  <a:srgbClr val="404040"/>
                </a:solidFill>
                <a:latin typeface="Calibri"/>
              </a:rPr>
              <a:t>Unused debt capacity</a:t>
            </a:r>
          </a:p>
        </p:txBody>
      </p:sp>
      <p:sp>
        <p:nvSpPr>
          <p:cNvPr id="522" name="S523"/>
          <p:cNvSpPr/>
          <p:nvPr/>
        </p:nvSpPr>
        <p:spPr>
          <a:xfrm>
            <a:off x="7696200" y="4508500"/>
            <a:ext cx="3657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1F3864"/>
                </a:solidFill>
                <a:latin typeface="Georgia"/>
              </a:rPr>
              <a:t>$8.03m</a:t>
            </a:r>
          </a:p>
        </p:txBody>
      </p:sp>
      <p:sp>
        <p:nvSpPr>
          <p:cNvPr id="523" name="S524"/>
          <p:cNvSpPr/>
          <p:nvPr/>
        </p:nvSpPr>
        <p:spPr>
          <a:xfrm>
            <a:off x="7467600" y="5080000"/>
            <a:ext cx="4114800" cy="1422400"/>
          </a:xfrm>
          <a:prstGeom prst="rect">
            <a:avLst/>
          </a:prstGeom>
          <a:solidFill>
            <a:srgbClr val="FDF0E6"/>
          </a:solidFill>
          <a:ln w="19050">
            <a:solidFill>
              <a:srgbClr val="C55A11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4" name="S525"/>
          <p:cNvSpPr/>
          <p:nvPr/>
        </p:nvSpPr>
        <p:spPr>
          <a:xfrm>
            <a:off x="7696200" y="5257800"/>
            <a:ext cx="365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C55A11"/>
                </a:solidFill>
                <a:latin typeface="Calibri"/>
              </a:rPr>
              <a:t>Stated assumption</a:t>
            </a:r>
          </a:p>
        </p:txBody>
      </p:sp>
      <p:sp>
        <p:nvSpPr>
          <p:cNvPr id="525" name="S526"/>
          <p:cNvSpPr/>
          <p:nvPr/>
        </p:nvSpPr>
        <p:spPr>
          <a:xfrm>
            <a:off x="7696200" y="5562600"/>
            <a:ext cx="3657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The DSRA is treated as equity-funded and outside the gearing base. This is the conservative reading, and is surfaced here rather than buried.</a:t>
            </a:r>
          </a:p>
        </p:txBody>
      </p:sp>
    </p:spTree>
    <p:extLst>
      <p:ext uri="{BB962C8B-B14F-4D97-AF65-F5344CB8AC3E}">
        <p14:creationId xmlns:p14="http://schemas.microsoft.com/office/powerpoint/2010/main" val="2058357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Axis701"/>
          <p:cNvSpPr/>
          <p:nvPr/>
        </p:nvSpPr>
        <p:spPr>
          <a:xfrm>
            <a:off x="1422400" y="4735286"/>
            <a:ext cx="49276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701" name="Axis702"/>
          <p:cNvSpPr/>
          <p:nvPr/>
        </p:nvSpPr>
        <p:spPr>
          <a:xfrm>
            <a:off x="609600" y="4620986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300" b="0" dirty="0">
                <a:solidFill>
                  <a:srgbClr val="808080"/>
                </a:solidFill>
                <a:latin typeface="Calibri"/>
              </a:rPr>
              <a:t>$10m</a:t>
            </a:r>
          </a:p>
        </p:txBody>
      </p:sp>
      <p:sp>
        <p:nvSpPr>
          <p:cNvPr id="702" name="Axis703"/>
          <p:cNvSpPr/>
          <p:nvPr/>
        </p:nvSpPr>
        <p:spPr>
          <a:xfrm>
            <a:off x="1422400" y="4009571"/>
            <a:ext cx="49276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703" name="Axis704"/>
          <p:cNvSpPr/>
          <p:nvPr/>
        </p:nvSpPr>
        <p:spPr>
          <a:xfrm>
            <a:off x="609600" y="3895271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300" b="0" dirty="0">
                <a:solidFill>
                  <a:srgbClr val="808080"/>
                </a:solidFill>
                <a:latin typeface="Calibri"/>
              </a:rPr>
              <a:t>$20m</a:t>
            </a:r>
          </a:p>
        </p:txBody>
      </p:sp>
      <p:sp>
        <p:nvSpPr>
          <p:cNvPr id="704" name="Axis705"/>
          <p:cNvSpPr/>
          <p:nvPr/>
        </p:nvSpPr>
        <p:spPr>
          <a:xfrm>
            <a:off x="1422400" y="3283857"/>
            <a:ext cx="49276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705" name="Axis706"/>
          <p:cNvSpPr/>
          <p:nvPr/>
        </p:nvSpPr>
        <p:spPr>
          <a:xfrm>
            <a:off x="609600" y="3169557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300" b="0" dirty="0">
                <a:solidFill>
                  <a:srgbClr val="808080"/>
                </a:solidFill>
                <a:latin typeface="Calibri"/>
              </a:rPr>
              <a:t>$30m</a:t>
            </a:r>
          </a:p>
        </p:txBody>
      </p:sp>
      <p:sp>
        <p:nvSpPr>
          <p:cNvPr id="706" name="Axis707"/>
          <p:cNvSpPr/>
          <p:nvPr/>
        </p:nvSpPr>
        <p:spPr>
          <a:xfrm>
            <a:off x="1422400" y="2558143"/>
            <a:ext cx="49276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707" name="Axis708"/>
          <p:cNvSpPr/>
          <p:nvPr/>
        </p:nvSpPr>
        <p:spPr>
          <a:xfrm>
            <a:off x="609600" y="2443843"/>
            <a:ext cx="711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n-US" sz="1300" b="0" dirty="0">
                <a:solidFill>
                  <a:srgbClr val="808080"/>
                </a:solidFill>
                <a:latin typeface="Calibri"/>
              </a:rPr>
              <a:t>$40m</a:t>
            </a:r>
          </a:p>
        </p:txBody>
      </p:sp>
      <p:sp>
        <p:nvSpPr>
          <p:cNvPr id="500" name="S501"/>
          <p:cNvSpPr/>
          <p:nvPr/>
        </p:nvSpPr>
        <p:spPr>
          <a:xfrm>
            <a:off x="609600" y="330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C55A11"/>
                </a:solidFill>
                <a:latin typeface="Calibri"/>
              </a:rPr>
              <a:t>DEBT SIZING — WHICH CONSTRAINT BINDS</a:t>
            </a:r>
          </a:p>
        </p:txBody>
      </p:sp>
      <p:sp>
        <p:nvSpPr>
          <p:cNvPr id="501" name="S502"/>
          <p:cNvSpPr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800" b="1" dirty="0">
                <a:solidFill>
                  <a:srgbClr val="1F3864"/>
                </a:solidFill>
                <a:latin typeface="Georgia"/>
              </a:rPr>
              <a:t>The DSCR covenant binds, not the gearing cap</a:t>
            </a:r>
          </a:p>
        </p:txBody>
      </p:sp>
      <p:sp>
        <p:nvSpPr>
          <p:cNvPr id="502" name="S503"/>
          <p:cNvSpPr/>
          <p:nvPr/>
        </p:nvSpPr>
        <p:spPr>
          <a:xfrm>
            <a:off x="609600" y="12192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0" dirty="0">
                <a:solidFill>
                  <a:srgbClr val="404040"/>
                </a:solidFill>
                <a:latin typeface="Calibri"/>
              </a:rPr>
              <a:t>Cash flow is the limit on this facility, not policy.</a:t>
            </a:r>
          </a:p>
        </p:txBody>
      </p:sp>
      <p:sp>
        <p:nvSpPr>
          <p:cNvPr id="503" name="S504"/>
          <p:cNvSpPr/>
          <p:nvPr/>
        </p:nvSpPr>
        <p:spPr>
          <a:xfrm>
            <a:off x="609600" y="1651000"/>
            <a:ext cx="10972800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4" name="S505"/>
          <p:cNvSpPr/>
          <p:nvPr/>
        </p:nvSpPr>
        <p:spPr>
          <a:xfrm>
            <a:off x="1016000" y="5461000"/>
            <a:ext cx="5334000" cy="1905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5" name="S506"/>
          <p:cNvSpPr/>
          <p:nvPr/>
        </p:nvSpPr>
        <p:spPr>
          <a:xfrm>
            <a:off x="1524000" y="2413000"/>
            <a:ext cx="1905000" cy="304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b="1" dirty="0">
                <a:solidFill>
                  <a:srgbClr val="262626"/>
                </a:solidFill>
                <a:latin typeface="Georgia"/>
              </a:rPr>
              <a:t>$42.00m</a:t>
            </a:r>
          </a:p>
        </p:txBody>
      </p:sp>
      <p:sp>
        <p:nvSpPr>
          <p:cNvPr id="506" name="S507"/>
          <p:cNvSpPr/>
          <p:nvPr/>
        </p:nvSpPr>
        <p:spPr>
          <a:xfrm>
            <a:off x="4064000" y="2997200"/>
            <a:ext cx="1905000" cy="2463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/>
              </a:rPr>
              <a:t>$33.97m</a:t>
            </a:r>
          </a:p>
        </p:txBody>
      </p:sp>
      <p:sp>
        <p:nvSpPr>
          <p:cNvPr id="507" name="S508"/>
          <p:cNvSpPr/>
          <p:nvPr/>
        </p:nvSpPr>
        <p:spPr>
          <a:xfrm>
            <a:off x="1219200" y="5588000"/>
            <a:ext cx="2514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404040"/>
                </a:solidFill>
                <a:latin typeface="Calibri"/>
              </a:rPr>
              <a:t>70% gearing cap</a:t>
            </a:r>
          </a:p>
          <a:p>
            <a:pPr algn="ctr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permits</a:t>
            </a:r>
          </a:p>
        </p:txBody>
      </p:sp>
      <p:sp>
        <p:nvSpPr>
          <p:cNvPr id="508" name="S509"/>
          <p:cNvSpPr/>
          <p:nvPr/>
        </p:nvSpPr>
        <p:spPr>
          <a:xfrm>
            <a:off x="3759200" y="5588000"/>
            <a:ext cx="25146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500" b="1" dirty="0">
                <a:solidFill>
                  <a:srgbClr val="1F3864"/>
                </a:solidFill>
                <a:latin typeface="Calibri"/>
              </a:rPr>
              <a:t>1.30x DSCR covenant</a:t>
            </a:r>
          </a:p>
          <a:p>
            <a:pPr algn="ctr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supports</a:t>
            </a:r>
          </a:p>
        </p:txBody>
      </p:sp>
      <p:sp>
        <p:nvSpPr>
          <p:cNvPr id="509" name="S510"/>
          <p:cNvSpPr/>
          <p:nvPr/>
        </p:nvSpPr>
        <p:spPr>
          <a:xfrm>
            <a:off x="4064000" y="2590800"/>
            <a:ext cx="1905000" cy="3048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BINDS</a:t>
            </a:r>
          </a:p>
        </p:txBody>
      </p:sp>
      <p:sp>
        <p:nvSpPr>
          <p:cNvPr id="510" name="S511"/>
          <p:cNvSpPr/>
          <p:nvPr/>
        </p:nvSpPr>
        <p:spPr>
          <a:xfrm>
            <a:off x="609600" y="62992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/>
              </a:rPr>
              <a:t>The lower of the two tests governs: we size at $33.97m.</a:t>
            </a:r>
          </a:p>
        </p:txBody>
      </p:sp>
      <p:sp>
        <p:nvSpPr>
          <p:cNvPr id="511" name="S512"/>
          <p:cNvSpPr/>
          <p:nvPr/>
        </p:nvSpPr>
        <p:spPr>
          <a:xfrm>
            <a:off x="7061200" y="1930400"/>
            <a:ext cx="4521200" cy="10414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2" name="S513"/>
          <p:cNvSpPr/>
          <p:nvPr/>
        </p:nvSpPr>
        <p:spPr>
          <a:xfrm>
            <a:off x="7061200" y="1930400"/>
            <a:ext cx="50800" cy="10414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3" name="S514"/>
          <p:cNvSpPr/>
          <p:nvPr/>
        </p:nvSpPr>
        <p:spPr>
          <a:xfrm>
            <a:off x="7315200" y="20701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/>
              </a:rPr>
              <a:t>Test 1 — gearing cap</a:t>
            </a:r>
          </a:p>
        </p:txBody>
      </p:sp>
      <p:sp>
        <p:nvSpPr>
          <p:cNvPr id="514" name="S515"/>
          <p:cNvSpPr/>
          <p:nvPr/>
        </p:nvSpPr>
        <p:spPr>
          <a:xfrm>
            <a:off x="7315200" y="23495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70% of $60.0m of capex permits a facility of $42.00m.</a:t>
            </a:r>
          </a:p>
        </p:txBody>
      </p:sp>
      <p:sp>
        <p:nvSpPr>
          <p:cNvPr id="515" name="S516"/>
          <p:cNvSpPr/>
          <p:nvPr/>
        </p:nvSpPr>
        <p:spPr>
          <a:xfrm>
            <a:off x="7061200" y="3098800"/>
            <a:ext cx="4521200" cy="10414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6" name="S517"/>
          <p:cNvSpPr/>
          <p:nvPr/>
        </p:nvSpPr>
        <p:spPr>
          <a:xfrm>
            <a:off x="7061200" y="3098800"/>
            <a:ext cx="50800" cy="10414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7" name="S518"/>
          <p:cNvSpPr/>
          <p:nvPr/>
        </p:nvSpPr>
        <p:spPr>
          <a:xfrm>
            <a:off x="7315200" y="32385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/>
              </a:rPr>
              <a:t>Test 2 — covenant capacity</a:t>
            </a:r>
          </a:p>
        </p:txBody>
      </p:sp>
      <p:sp>
        <p:nvSpPr>
          <p:cNvPr id="518" name="S519"/>
          <p:cNvSpPr/>
          <p:nvPr/>
        </p:nvSpPr>
        <p:spPr>
          <a:xfrm>
            <a:off x="7315200" y="35179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Discounting maximum affordable debt service (CFADS divided by 1.30x) at the 8.0% coupon over 15 years supports $33.97m.</a:t>
            </a:r>
          </a:p>
        </p:txBody>
      </p:sp>
      <p:sp>
        <p:nvSpPr>
          <p:cNvPr id="519" name="S520"/>
          <p:cNvSpPr/>
          <p:nvPr/>
        </p:nvSpPr>
        <p:spPr>
          <a:xfrm>
            <a:off x="7061200" y="4267200"/>
            <a:ext cx="4521200" cy="10414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0" name="S521"/>
          <p:cNvSpPr/>
          <p:nvPr/>
        </p:nvSpPr>
        <p:spPr>
          <a:xfrm>
            <a:off x="7061200" y="4267200"/>
            <a:ext cx="50800" cy="10414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1" name="S522"/>
          <p:cNvSpPr/>
          <p:nvPr/>
        </p:nvSpPr>
        <p:spPr>
          <a:xfrm>
            <a:off x="7315200" y="44069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/>
              </a:rPr>
              <a:t>Result</a:t>
            </a:r>
          </a:p>
        </p:txBody>
      </p:sp>
      <p:sp>
        <p:nvSpPr>
          <p:cNvPr id="522" name="S523"/>
          <p:cNvSpPr/>
          <p:nvPr/>
        </p:nvSpPr>
        <p:spPr>
          <a:xfrm>
            <a:off x="7315200" y="468630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Sized at $33.97m; gearing settles at 56.6%, some $8.03m below the cap.</a:t>
            </a:r>
          </a:p>
        </p:txBody>
      </p:sp>
      <p:sp>
        <p:nvSpPr>
          <p:cNvPr id="523" name="S524"/>
          <p:cNvSpPr/>
          <p:nvPr/>
        </p:nvSpPr>
        <p:spPr>
          <a:xfrm>
            <a:off x="7061200" y="5511800"/>
            <a:ext cx="4521200" cy="1092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4" name="S525"/>
          <p:cNvSpPr/>
          <p:nvPr/>
        </p:nvSpPr>
        <p:spPr>
          <a:xfrm>
            <a:off x="7315200" y="5689600"/>
            <a:ext cx="406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50" b="0" dirty="0">
                <a:solidFill>
                  <a:srgbClr val="FFFFFF"/>
                </a:solidFill>
                <a:latin typeface="Calibri"/>
              </a:rPr>
              <a:t>Read-across: the DIF cannot lend more even if it wanted to. The constraint is the asset's cash generation — which loops straight back to the tariff.</a:t>
            </a:r>
          </a:p>
        </p:txBody>
      </p:sp>
    </p:spTree>
    <p:extLst>
      <p:ext uri="{BB962C8B-B14F-4D97-AF65-F5344CB8AC3E}">
        <p14:creationId xmlns:p14="http://schemas.microsoft.com/office/powerpoint/2010/main" val="689986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501"/>
          <p:cNvSpPr/>
          <p:nvPr/>
        </p:nvSpPr>
        <p:spPr>
          <a:xfrm>
            <a:off x="609600" y="330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C55A11"/>
                </a:solidFill>
                <a:latin typeface="Calibri"/>
              </a:rPr>
              <a:t>DEBT SERVICE AND COVENANT PERFORMANCE</a:t>
            </a:r>
          </a:p>
        </p:txBody>
      </p:sp>
      <p:sp>
        <p:nvSpPr>
          <p:cNvPr id="501" name="S502"/>
          <p:cNvSpPr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600" b="1" dirty="0">
                <a:solidFill>
                  <a:srgbClr val="1F3864"/>
                </a:solidFill>
                <a:latin typeface="Georgia"/>
              </a:rPr>
              <a:t>Flat 1.30x cover, and the facility retires in Year 12</a:t>
            </a:r>
          </a:p>
        </p:txBody>
      </p:sp>
      <p:sp>
        <p:nvSpPr>
          <p:cNvPr id="502" name="S503"/>
          <p:cNvSpPr/>
          <p:nvPr/>
        </p:nvSpPr>
        <p:spPr>
          <a:xfrm>
            <a:off x="609600" y="12192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0" dirty="0">
                <a:solidFill>
                  <a:srgbClr val="404040"/>
                </a:solidFill>
                <a:latin typeface="Calibri"/>
              </a:rPr>
              <a:t>Three years inside tenor. As a credit, this is clean.</a:t>
            </a:r>
          </a:p>
        </p:txBody>
      </p:sp>
      <p:sp>
        <p:nvSpPr>
          <p:cNvPr id="503" name="S504"/>
          <p:cNvSpPr/>
          <p:nvPr/>
        </p:nvSpPr>
        <p:spPr>
          <a:xfrm>
            <a:off x="609600" y="1651000"/>
            <a:ext cx="10972800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4" name="S505"/>
          <p:cNvSpPr/>
          <p:nvPr/>
        </p:nvSpPr>
        <p:spPr>
          <a:xfrm>
            <a:off x="8534400" y="1930400"/>
            <a:ext cx="3048000" cy="7366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5" name="S506"/>
          <p:cNvSpPr/>
          <p:nvPr/>
        </p:nvSpPr>
        <p:spPr>
          <a:xfrm>
            <a:off x="8712200" y="20447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0" dirty="0">
                <a:solidFill>
                  <a:srgbClr val="404040"/>
                </a:solidFill>
                <a:latin typeface="Calibri"/>
              </a:rPr>
              <a:t>Minimum DSCR</a:t>
            </a:r>
          </a:p>
        </p:txBody>
      </p:sp>
      <p:sp>
        <p:nvSpPr>
          <p:cNvPr id="506" name="S507"/>
          <p:cNvSpPr/>
          <p:nvPr/>
        </p:nvSpPr>
        <p:spPr>
          <a:xfrm>
            <a:off x="8712200" y="22860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F3864"/>
                </a:solidFill>
                <a:latin typeface="Georgia"/>
              </a:rPr>
              <a:t>1.30x</a:t>
            </a:r>
          </a:p>
        </p:txBody>
      </p:sp>
      <p:sp>
        <p:nvSpPr>
          <p:cNvPr id="507" name="S508"/>
          <p:cNvSpPr/>
          <p:nvPr/>
        </p:nvSpPr>
        <p:spPr>
          <a:xfrm>
            <a:off x="8534400" y="2768600"/>
            <a:ext cx="3048000" cy="7366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8" name="S509"/>
          <p:cNvSpPr/>
          <p:nvPr/>
        </p:nvSpPr>
        <p:spPr>
          <a:xfrm>
            <a:off x="8712200" y="28829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0" dirty="0">
                <a:solidFill>
                  <a:srgbClr val="404040"/>
                </a:solidFill>
                <a:latin typeface="Calibri"/>
              </a:rPr>
              <a:t>Average DSCR</a:t>
            </a:r>
          </a:p>
        </p:txBody>
      </p:sp>
      <p:sp>
        <p:nvSpPr>
          <p:cNvPr id="509" name="S510"/>
          <p:cNvSpPr/>
          <p:nvPr/>
        </p:nvSpPr>
        <p:spPr>
          <a:xfrm>
            <a:off x="8712200" y="31242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F3864"/>
                </a:solidFill>
                <a:latin typeface="Georgia"/>
              </a:rPr>
              <a:t>1.30x</a:t>
            </a:r>
          </a:p>
        </p:txBody>
      </p:sp>
      <p:sp>
        <p:nvSpPr>
          <p:cNvPr id="510" name="S511"/>
          <p:cNvSpPr/>
          <p:nvPr/>
        </p:nvSpPr>
        <p:spPr>
          <a:xfrm>
            <a:off x="8534400" y="3606800"/>
            <a:ext cx="3048000" cy="7366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1" name="S512"/>
          <p:cNvSpPr/>
          <p:nvPr/>
        </p:nvSpPr>
        <p:spPr>
          <a:xfrm>
            <a:off x="8712200" y="37211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0" dirty="0">
                <a:solidFill>
                  <a:srgbClr val="404040"/>
                </a:solidFill>
                <a:latin typeface="Calibri"/>
              </a:rPr>
              <a:t>DSCR incl. 50% sweep</a:t>
            </a:r>
          </a:p>
        </p:txBody>
      </p:sp>
      <p:sp>
        <p:nvSpPr>
          <p:cNvPr id="512" name="S513"/>
          <p:cNvSpPr/>
          <p:nvPr/>
        </p:nvSpPr>
        <p:spPr>
          <a:xfrm>
            <a:off x="8712200" y="39624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F3864"/>
                </a:solidFill>
                <a:latin typeface="Georgia"/>
              </a:rPr>
              <a:t>1.13x</a:t>
            </a:r>
          </a:p>
        </p:txBody>
      </p:sp>
      <p:sp>
        <p:nvSpPr>
          <p:cNvPr id="513" name="S514"/>
          <p:cNvSpPr/>
          <p:nvPr/>
        </p:nvSpPr>
        <p:spPr>
          <a:xfrm>
            <a:off x="8534400" y="4445000"/>
            <a:ext cx="3048000" cy="7366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4" name="S515"/>
          <p:cNvSpPr/>
          <p:nvPr/>
        </p:nvSpPr>
        <p:spPr>
          <a:xfrm>
            <a:off x="8712200" y="45593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0" dirty="0">
                <a:solidFill>
                  <a:srgbClr val="404040"/>
                </a:solidFill>
                <a:latin typeface="Calibri"/>
              </a:rPr>
              <a:t>Facility repaid</a:t>
            </a:r>
          </a:p>
        </p:txBody>
      </p:sp>
      <p:sp>
        <p:nvSpPr>
          <p:cNvPr id="515" name="S516"/>
          <p:cNvSpPr/>
          <p:nvPr/>
        </p:nvSpPr>
        <p:spPr>
          <a:xfrm>
            <a:off x="8712200" y="48006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F3864"/>
                </a:solidFill>
                <a:latin typeface="Georgia"/>
              </a:rPr>
              <a:t>Year 12 of 15</a:t>
            </a:r>
          </a:p>
        </p:txBody>
      </p:sp>
      <p:sp>
        <p:nvSpPr>
          <p:cNvPr id="516" name="S517"/>
          <p:cNvSpPr/>
          <p:nvPr/>
        </p:nvSpPr>
        <p:spPr>
          <a:xfrm>
            <a:off x="8534400" y="5283200"/>
            <a:ext cx="3048000" cy="7366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7" name="S518"/>
          <p:cNvSpPr/>
          <p:nvPr/>
        </p:nvSpPr>
        <p:spPr>
          <a:xfrm>
            <a:off x="8712200" y="53975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0" dirty="0">
                <a:solidFill>
                  <a:srgbClr val="404040"/>
                </a:solidFill>
                <a:latin typeface="Calibri"/>
              </a:rPr>
              <a:t>DSRA (six months)</a:t>
            </a:r>
          </a:p>
        </p:txBody>
      </p:sp>
      <p:sp>
        <p:nvSpPr>
          <p:cNvPr id="518" name="S519"/>
          <p:cNvSpPr/>
          <p:nvPr/>
        </p:nvSpPr>
        <p:spPr>
          <a:xfrm>
            <a:off x="8712200" y="56388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F3864"/>
                </a:solidFill>
                <a:latin typeface="Georgia"/>
              </a:rPr>
              <a:t>$1.88m</a:t>
            </a:r>
          </a:p>
        </p:txBody>
      </p:sp>
      <p:sp>
        <p:nvSpPr>
          <p:cNvPr id="519" name="S520"/>
          <p:cNvSpPr/>
          <p:nvPr/>
        </p:nvSpPr>
        <p:spPr>
          <a:xfrm>
            <a:off x="609600" y="5588000"/>
            <a:ext cx="7620000" cy="1041400"/>
          </a:xfrm>
          <a:prstGeom prst="rect">
            <a:avLst/>
          </a:prstGeom>
          <a:solidFill>
            <a:srgbClr val="F7E4E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0" name="S521"/>
          <p:cNvSpPr/>
          <p:nvPr/>
        </p:nvSpPr>
        <p:spPr>
          <a:xfrm>
            <a:off x="609600" y="5588000"/>
            <a:ext cx="63500" cy="1041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1" name="S522"/>
          <p:cNvSpPr/>
          <p:nvPr/>
        </p:nvSpPr>
        <p:spPr>
          <a:xfrm>
            <a:off x="863600" y="5740400"/>
            <a:ext cx="716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C00000"/>
                </a:solidFill>
                <a:latin typeface="Calibri"/>
              </a:rPr>
              <a:t>The trade-off, stated plainly: zero headroom by construction</a:t>
            </a:r>
          </a:p>
        </p:txBody>
      </p:sp>
      <p:sp>
        <p:nvSpPr>
          <p:cNvPr id="522" name="S523"/>
          <p:cNvSpPr/>
          <p:nvPr/>
        </p:nvSpPr>
        <p:spPr>
          <a:xfrm>
            <a:off x="863600" y="6019800"/>
            <a:ext cx="7162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Sculpting to exactly 1.30x means any CFADS miss breaches on day one. We recommend resculpting at 1.40-1.45x and accepting a smaller facility.</a:t>
            </a:r>
          </a:p>
        </p:txBody>
      </p:sp>
      <p:graphicFrame>
        <p:nvGraphicFramePr>
          <p:cNvPr id="151" name="Chart DSCR"/>
          <p:cNvGraphicFramePr/>
          <p:nvPr/>
        </p:nvGraphicFramePr>
        <p:xfrm>
          <a:off x="609600" y="1917700"/>
          <a:ext cx="7620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77745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Axis801"/>
          <p:cNvSpPr/>
          <p:nvPr/>
        </p:nvSpPr>
        <p:spPr>
          <a:xfrm>
            <a:off x="609600" y="2311400"/>
            <a:ext cx="12700" cy="20828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801" name="Axis802"/>
          <p:cNvSpPr/>
          <p:nvPr/>
        </p:nvSpPr>
        <p:spPr>
          <a:xfrm>
            <a:off x="304800" y="4394200"/>
            <a:ext cx="609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0" dirty="0">
                <a:solidFill>
                  <a:srgbClr val="808080"/>
                </a:solidFill>
                <a:latin typeface="Calibri"/>
              </a:rPr>
              <a:t>0%</a:t>
            </a:r>
          </a:p>
        </p:txBody>
      </p:sp>
      <p:sp>
        <p:nvSpPr>
          <p:cNvPr id="802" name="Axis803"/>
          <p:cNvSpPr/>
          <p:nvPr/>
        </p:nvSpPr>
        <p:spPr>
          <a:xfrm>
            <a:off x="2641600" y="2311400"/>
            <a:ext cx="12700" cy="2082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803" name="Axis804"/>
          <p:cNvSpPr/>
          <p:nvPr/>
        </p:nvSpPr>
        <p:spPr>
          <a:xfrm>
            <a:off x="2336800" y="4394200"/>
            <a:ext cx="609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0" dirty="0">
                <a:solidFill>
                  <a:srgbClr val="808080"/>
                </a:solidFill>
                <a:latin typeface="Calibri"/>
              </a:rPr>
              <a:t>2%</a:t>
            </a:r>
          </a:p>
        </p:txBody>
      </p:sp>
      <p:sp>
        <p:nvSpPr>
          <p:cNvPr id="804" name="Axis805"/>
          <p:cNvSpPr/>
          <p:nvPr/>
        </p:nvSpPr>
        <p:spPr>
          <a:xfrm>
            <a:off x="4673600" y="2311400"/>
            <a:ext cx="12700" cy="2082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805" name="Axis806"/>
          <p:cNvSpPr/>
          <p:nvPr/>
        </p:nvSpPr>
        <p:spPr>
          <a:xfrm>
            <a:off x="4368800" y="4394200"/>
            <a:ext cx="609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0" dirty="0">
                <a:solidFill>
                  <a:srgbClr val="808080"/>
                </a:solidFill>
                <a:latin typeface="Calibri"/>
              </a:rPr>
              <a:t>4%</a:t>
            </a:r>
          </a:p>
        </p:txBody>
      </p:sp>
      <p:sp>
        <p:nvSpPr>
          <p:cNvPr id="806" name="Axis807"/>
          <p:cNvSpPr/>
          <p:nvPr/>
        </p:nvSpPr>
        <p:spPr>
          <a:xfrm>
            <a:off x="6705600" y="2311400"/>
            <a:ext cx="12700" cy="2082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807" name="Axis808"/>
          <p:cNvSpPr/>
          <p:nvPr/>
        </p:nvSpPr>
        <p:spPr>
          <a:xfrm>
            <a:off x="6400800" y="4394200"/>
            <a:ext cx="609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0" dirty="0">
                <a:solidFill>
                  <a:srgbClr val="808080"/>
                </a:solidFill>
                <a:latin typeface="Calibri"/>
              </a:rPr>
              <a:t>6%</a:t>
            </a:r>
          </a:p>
        </p:txBody>
      </p:sp>
      <p:sp>
        <p:nvSpPr>
          <p:cNvPr id="500" name="S501"/>
          <p:cNvSpPr/>
          <p:nvPr/>
        </p:nvSpPr>
        <p:spPr>
          <a:xfrm>
            <a:off x="609600" y="330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C55A11"/>
                </a:solidFill>
                <a:latin typeface="Calibri"/>
              </a:rPr>
              <a:t>RETURNS — AND WHY LEVERAGE IS NOT THE PROBLEM</a:t>
            </a:r>
          </a:p>
        </p:txBody>
      </p:sp>
      <p:sp>
        <p:nvSpPr>
          <p:cNvPr id="501" name="S502"/>
          <p:cNvSpPr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700" b="1" dirty="0">
                <a:solidFill>
                  <a:srgbClr val="1F3864"/>
                </a:solidFill>
                <a:latin typeface="Georgia"/>
              </a:rPr>
              <a:t>After tax, the debt costs less than the asset earns</a:t>
            </a:r>
          </a:p>
        </p:txBody>
      </p:sp>
      <p:sp>
        <p:nvSpPr>
          <p:cNvPr id="502" name="S503"/>
          <p:cNvSpPr/>
          <p:nvPr/>
        </p:nvSpPr>
        <p:spPr>
          <a:xfrm>
            <a:off x="609600" y="12192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0" dirty="0">
                <a:solidFill>
                  <a:srgbClr val="404040"/>
                </a:solidFill>
                <a:latin typeface="Calibri"/>
              </a:rPr>
              <a:t>The capital structure is efficient. Both returns are simply too low.</a:t>
            </a:r>
          </a:p>
        </p:txBody>
      </p:sp>
      <p:sp>
        <p:nvSpPr>
          <p:cNvPr id="503" name="S504"/>
          <p:cNvSpPr/>
          <p:nvPr/>
        </p:nvSpPr>
        <p:spPr>
          <a:xfrm>
            <a:off x="609600" y="1651000"/>
            <a:ext cx="10972800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4" name="S505"/>
          <p:cNvSpPr/>
          <p:nvPr/>
        </p:nvSpPr>
        <p:spPr>
          <a:xfrm>
            <a:off x="609600" y="1930400"/>
            <a:ext cx="7010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/>
              </a:rPr>
              <a:t>Cost of DIF debt versus what the asset earns</a:t>
            </a:r>
          </a:p>
        </p:txBody>
      </p:sp>
      <p:sp>
        <p:nvSpPr>
          <p:cNvPr id="505" name="S506"/>
          <p:cNvSpPr/>
          <p:nvPr/>
        </p:nvSpPr>
        <p:spPr>
          <a:xfrm>
            <a:off x="609600" y="2362200"/>
            <a:ext cx="701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After-tax cost of DIF debt (8.0% coupon less 30% shield)</a:t>
            </a:r>
          </a:p>
        </p:txBody>
      </p:sp>
      <p:sp>
        <p:nvSpPr>
          <p:cNvPr id="506" name="S507"/>
          <p:cNvSpPr/>
          <p:nvPr/>
        </p:nvSpPr>
        <p:spPr>
          <a:xfrm>
            <a:off x="609600" y="2641600"/>
            <a:ext cx="5689600" cy="609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/>
              </a:rPr>
              <a:t>5.60%</a:t>
            </a:r>
          </a:p>
        </p:txBody>
      </p:sp>
      <p:sp>
        <p:nvSpPr>
          <p:cNvPr id="507" name="S508"/>
          <p:cNvSpPr/>
          <p:nvPr/>
        </p:nvSpPr>
        <p:spPr>
          <a:xfrm>
            <a:off x="609600" y="3479800"/>
            <a:ext cx="701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Unlevered return the asset earns</a:t>
            </a:r>
          </a:p>
        </p:txBody>
      </p:sp>
      <p:sp>
        <p:nvSpPr>
          <p:cNvPr id="508" name="S509"/>
          <p:cNvSpPr/>
          <p:nvPr/>
        </p:nvSpPr>
        <p:spPr>
          <a:xfrm>
            <a:off x="609600" y="3759200"/>
            <a:ext cx="6172200" cy="6096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/>
              </a:rPr>
              <a:t>6.07%</a:t>
            </a:r>
          </a:p>
        </p:txBody>
      </p:sp>
      <p:sp>
        <p:nvSpPr>
          <p:cNvPr id="509" name="S510"/>
          <p:cNvSpPr/>
          <p:nvPr/>
        </p:nvSpPr>
        <p:spPr>
          <a:xfrm>
            <a:off x="609600" y="4597400"/>
            <a:ext cx="7010400" cy="660400"/>
          </a:xfrm>
          <a:prstGeom prst="rect">
            <a:avLst/>
          </a:prstGeom>
          <a:solidFill>
            <a:srgbClr val="E7EFDF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510" name="S511"/>
          <p:cNvSpPr/>
          <p:nvPr/>
        </p:nvSpPr>
        <p:spPr>
          <a:xfrm>
            <a:off x="863600" y="4775200"/>
            <a:ext cx="6502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548235"/>
                </a:solidFill>
                <a:latin typeface="Calibri"/>
              </a:rPr>
              <a:t>Positive spread of 0.46pp — leverage adds value here.</a:t>
            </a:r>
          </a:p>
        </p:txBody>
      </p:sp>
      <p:sp>
        <p:nvSpPr>
          <p:cNvPr id="511" name="S512"/>
          <p:cNvSpPr/>
          <p:nvPr/>
        </p:nvSpPr>
        <p:spPr>
          <a:xfrm>
            <a:off x="609600" y="5461000"/>
            <a:ext cx="7010400" cy="11176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2" name="S513"/>
          <p:cNvSpPr/>
          <p:nvPr/>
        </p:nvSpPr>
        <p:spPr>
          <a:xfrm>
            <a:off x="863600" y="5613400"/>
            <a:ext cx="6502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1F3864"/>
                </a:solidFill>
                <a:latin typeface="Calibri"/>
              </a:rPr>
              <a:t>Pre-empting the obvious challenge</a:t>
            </a:r>
          </a:p>
        </p:txBody>
      </p:sp>
      <p:sp>
        <p:nvSpPr>
          <p:cNvPr id="513" name="S514"/>
          <p:cNvSpPr/>
          <p:nvPr/>
        </p:nvSpPr>
        <p:spPr>
          <a:xfrm>
            <a:off x="863600" y="5892800"/>
            <a:ext cx="65024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Naive read: an 8.0% coupon against a 6.07% asset return must destroy equity value. Wrong — interest is deductible, and the shield is worth $6.15m over the life.</a:t>
            </a:r>
          </a:p>
        </p:txBody>
      </p:sp>
      <p:sp>
        <p:nvSpPr>
          <p:cNvPr id="514" name="S515"/>
          <p:cNvSpPr/>
          <p:nvPr/>
        </p:nvSpPr>
        <p:spPr>
          <a:xfrm>
            <a:off x="7924800" y="1930400"/>
            <a:ext cx="3657600" cy="7874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5" name="S516"/>
          <p:cNvSpPr/>
          <p:nvPr/>
        </p:nvSpPr>
        <p:spPr>
          <a:xfrm>
            <a:off x="7924800" y="1930400"/>
            <a:ext cx="50800" cy="787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6" name="S517"/>
          <p:cNvSpPr/>
          <p:nvPr/>
        </p:nvSpPr>
        <p:spPr>
          <a:xfrm>
            <a:off x="8178800" y="2044700"/>
            <a:ext cx="320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Project IRR</a:t>
            </a:r>
          </a:p>
        </p:txBody>
      </p:sp>
      <p:sp>
        <p:nvSpPr>
          <p:cNvPr id="517" name="S518"/>
          <p:cNvSpPr/>
          <p:nvPr/>
        </p:nvSpPr>
        <p:spPr>
          <a:xfrm>
            <a:off x="8178800" y="2298700"/>
            <a:ext cx="3200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1F3864"/>
                </a:solidFill>
                <a:latin typeface="Georgia"/>
              </a:rPr>
              <a:t>6.07%</a:t>
            </a:r>
          </a:p>
        </p:txBody>
      </p:sp>
      <p:sp>
        <p:nvSpPr>
          <p:cNvPr id="518" name="S519"/>
          <p:cNvSpPr/>
          <p:nvPr/>
        </p:nvSpPr>
        <p:spPr>
          <a:xfrm>
            <a:off x="7924800" y="2844800"/>
            <a:ext cx="3657600" cy="7874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9" name="S520"/>
          <p:cNvSpPr/>
          <p:nvPr/>
        </p:nvSpPr>
        <p:spPr>
          <a:xfrm>
            <a:off x="7924800" y="2844800"/>
            <a:ext cx="50800" cy="78740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0" name="S521"/>
          <p:cNvSpPr/>
          <p:nvPr/>
        </p:nvSpPr>
        <p:spPr>
          <a:xfrm>
            <a:off x="8178800" y="2959100"/>
            <a:ext cx="320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plus tax shield</a:t>
            </a:r>
          </a:p>
        </p:txBody>
      </p:sp>
      <p:sp>
        <p:nvSpPr>
          <p:cNvPr id="521" name="S522"/>
          <p:cNvSpPr/>
          <p:nvPr/>
        </p:nvSpPr>
        <p:spPr>
          <a:xfrm>
            <a:off x="8178800" y="3213100"/>
            <a:ext cx="3200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548235"/>
                </a:solidFill>
                <a:latin typeface="Calibri"/>
              </a:rPr>
              <a:t>$6.15m over life, 30.0% of $20.50m interest paid</a:t>
            </a:r>
          </a:p>
        </p:txBody>
      </p:sp>
      <p:sp>
        <p:nvSpPr>
          <p:cNvPr id="522" name="S523"/>
          <p:cNvSpPr/>
          <p:nvPr/>
        </p:nvSpPr>
        <p:spPr>
          <a:xfrm>
            <a:off x="7924800" y="3759200"/>
            <a:ext cx="3657600" cy="7874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3" name="S524"/>
          <p:cNvSpPr/>
          <p:nvPr/>
        </p:nvSpPr>
        <p:spPr>
          <a:xfrm>
            <a:off x="7924800" y="3759200"/>
            <a:ext cx="50800" cy="7874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4" name="S525"/>
          <p:cNvSpPr/>
          <p:nvPr/>
        </p:nvSpPr>
        <p:spPr>
          <a:xfrm>
            <a:off x="8178800" y="3873500"/>
            <a:ext cx="320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less DSRA drag</a:t>
            </a:r>
          </a:p>
        </p:txBody>
      </p:sp>
      <p:sp>
        <p:nvSpPr>
          <p:cNvPr id="525" name="S526"/>
          <p:cNvSpPr/>
          <p:nvPr/>
        </p:nvSpPr>
        <p:spPr>
          <a:xfrm>
            <a:off x="8178800" y="4127500"/>
            <a:ext cx="3200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C55A11"/>
                </a:solidFill>
                <a:latin typeface="Calibri"/>
              </a:rPr>
              <a:t>$1.88m idle for 12 years</a:t>
            </a:r>
          </a:p>
        </p:txBody>
      </p:sp>
      <p:sp>
        <p:nvSpPr>
          <p:cNvPr id="526" name="S527"/>
          <p:cNvSpPr/>
          <p:nvPr/>
        </p:nvSpPr>
        <p:spPr>
          <a:xfrm>
            <a:off x="7924800" y="4673600"/>
            <a:ext cx="3657600" cy="7874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7" name="S528"/>
          <p:cNvSpPr/>
          <p:nvPr/>
        </p:nvSpPr>
        <p:spPr>
          <a:xfrm>
            <a:off x="7924800" y="4673600"/>
            <a:ext cx="50800" cy="787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8" name="S529"/>
          <p:cNvSpPr/>
          <p:nvPr/>
        </p:nvSpPr>
        <p:spPr>
          <a:xfrm>
            <a:off x="8178800" y="4787900"/>
            <a:ext cx="320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Equity IRR  (0.03pp below project)</a:t>
            </a:r>
          </a:p>
        </p:txBody>
      </p:sp>
      <p:sp>
        <p:nvSpPr>
          <p:cNvPr id="529" name="S530"/>
          <p:cNvSpPr/>
          <p:nvPr/>
        </p:nvSpPr>
        <p:spPr>
          <a:xfrm>
            <a:off x="8178800" y="5041900"/>
            <a:ext cx="3200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900" b="1" dirty="0">
                <a:solidFill>
                  <a:srgbClr val="1F3864"/>
                </a:solidFill>
                <a:latin typeface="Georgia"/>
              </a:rPr>
              <a:t>6.04%</a:t>
            </a:r>
          </a:p>
        </p:txBody>
      </p:sp>
      <p:sp>
        <p:nvSpPr>
          <p:cNvPr id="530" name="S531"/>
          <p:cNvSpPr/>
          <p:nvPr/>
        </p:nvSpPr>
        <p:spPr>
          <a:xfrm>
            <a:off x="7924800" y="5765800"/>
            <a:ext cx="36576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531" name="S532"/>
          <p:cNvSpPr/>
          <p:nvPr/>
        </p:nvSpPr>
        <p:spPr>
          <a:xfrm>
            <a:off x="8178800" y="5943600"/>
            <a:ext cx="32004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/>
              </a:rPr>
              <a:t>Gearing is not the lever. The tariff is.</a:t>
            </a:r>
          </a:p>
        </p:txBody>
      </p:sp>
    </p:spTree>
    <p:extLst>
      <p:ext uri="{BB962C8B-B14F-4D97-AF65-F5344CB8AC3E}">
        <p14:creationId xmlns:p14="http://schemas.microsoft.com/office/powerpoint/2010/main" val="3597774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501"/>
          <p:cNvSpPr/>
          <p:nvPr/>
        </p:nvSpPr>
        <p:spPr>
          <a:xfrm>
            <a:off x="609600" y="330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C55A11"/>
                </a:solidFill>
                <a:latin typeface="Calibri"/>
              </a:rPr>
              <a:t>RISKS AND MITIGANTS</a:t>
            </a:r>
          </a:p>
        </p:txBody>
      </p:sp>
      <p:sp>
        <p:nvSpPr>
          <p:cNvPr id="501" name="S502"/>
          <p:cNvSpPr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800" b="1" dirty="0">
                <a:solidFill>
                  <a:srgbClr val="1F3864"/>
                </a:solidFill>
                <a:latin typeface="Georgia"/>
              </a:rPr>
              <a:t>Two risks matter before financial close</a:t>
            </a:r>
          </a:p>
        </p:txBody>
      </p:sp>
      <p:sp>
        <p:nvSpPr>
          <p:cNvPr id="502" name="S503"/>
          <p:cNvSpPr/>
          <p:nvPr/>
        </p:nvSpPr>
        <p:spPr>
          <a:xfrm>
            <a:off x="609600" y="12192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0" dirty="0">
                <a:solidFill>
                  <a:srgbClr val="404040"/>
                </a:solidFill>
                <a:latin typeface="Calibri"/>
              </a:rPr>
              <a:t>A single offtaker carrying all the debt service, and a resource estimate with no margin for error.</a:t>
            </a:r>
          </a:p>
        </p:txBody>
      </p:sp>
      <p:sp>
        <p:nvSpPr>
          <p:cNvPr id="503" name="S504"/>
          <p:cNvSpPr/>
          <p:nvPr/>
        </p:nvSpPr>
        <p:spPr>
          <a:xfrm>
            <a:off x="609600" y="1651000"/>
            <a:ext cx="10972800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4" name="S505"/>
          <p:cNvSpPr/>
          <p:nvPr/>
        </p:nvSpPr>
        <p:spPr>
          <a:xfrm>
            <a:off x="609600" y="1930400"/>
            <a:ext cx="5384800" cy="46482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5" name="S506"/>
          <p:cNvSpPr/>
          <p:nvPr/>
        </p:nvSpPr>
        <p:spPr>
          <a:xfrm>
            <a:off x="609600" y="1930400"/>
            <a:ext cx="5384800" cy="584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6" name="S507"/>
          <p:cNvSpPr/>
          <p:nvPr/>
        </p:nvSpPr>
        <p:spPr>
          <a:xfrm>
            <a:off x="838200" y="1981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2A65A"/>
                </a:solidFill>
                <a:latin typeface="Calibri"/>
              </a:rPr>
              <a:t>RISK 1</a:t>
            </a:r>
          </a:p>
        </p:txBody>
      </p:sp>
      <p:sp>
        <p:nvSpPr>
          <p:cNvPr id="507" name="S508"/>
          <p:cNvSpPr/>
          <p:nvPr/>
        </p:nvSpPr>
        <p:spPr>
          <a:xfrm>
            <a:off x="838200" y="22098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/>
              </a:rPr>
              <a:t>Offtaker credit and payment</a:t>
            </a:r>
          </a:p>
        </p:txBody>
      </p:sp>
      <p:sp>
        <p:nvSpPr>
          <p:cNvPr id="508" name="S509"/>
          <p:cNvSpPr/>
          <p:nvPr/>
        </p:nvSpPr>
        <p:spPr>
          <a:xfrm>
            <a:off x="838200" y="2641600"/>
            <a:ext cx="4927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All debt service rests on one counterparty under a 20-year take-or-pay PPA, and the structure is sized to exactly 1.30x. There is 0.00x of headroom, so a payment delay is an immediate breach.</a:t>
            </a:r>
          </a:p>
        </p:txBody>
      </p:sp>
      <p:sp>
        <p:nvSpPr>
          <p:cNvPr id="509" name="S510"/>
          <p:cNvSpPr/>
          <p:nvPr/>
        </p:nvSpPr>
        <p:spPr>
          <a:xfrm>
            <a:off x="838200" y="3581400"/>
            <a:ext cx="492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50" b="1" dirty="0">
                <a:solidFill>
                  <a:srgbClr val="C55A11"/>
                </a:solidFill>
                <a:latin typeface="Calibri"/>
              </a:rPr>
              <a:t>MITIGANTS</a:t>
            </a:r>
          </a:p>
        </p:txBody>
      </p:sp>
      <p:sp>
        <p:nvSpPr>
          <p:cNvPr id="510" name="S511"/>
          <p:cNvSpPr/>
          <p:nvPr/>
        </p:nvSpPr>
        <p:spPr>
          <a:xfrm>
            <a:off x="838200" y="3975100"/>
            <a:ext cx="101600" cy="10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1" name="S512"/>
          <p:cNvSpPr/>
          <p:nvPr/>
        </p:nvSpPr>
        <p:spPr>
          <a:xfrm>
            <a:off x="1066800" y="3911600"/>
            <a:ext cx="4699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Sovereign or Treasury payment guarantee</a:t>
            </a:r>
          </a:p>
        </p:txBody>
      </p:sp>
      <p:sp>
        <p:nvSpPr>
          <p:cNvPr id="512" name="S513"/>
          <p:cNvSpPr/>
          <p:nvPr/>
        </p:nvSpPr>
        <p:spPr>
          <a:xfrm>
            <a:off x="838200" y="4635500"/>
            <a:ext cx="101600" cy="10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3" name="S514"/>
          <p:cNvSpPr/>
          <p:nvPr/>
        </p:nvSpPr>
        <p:spPr>
          <a:xfrm>
            <a:off x="1066800" y="4572000"/>
            <a:ext cx="4699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Letter of credit covering three to six months of invoicing, on top of the DSRA</a:t>
            </a:r>
          </a:p>
        </p:txBody>
      </p:sp>
      <p:sp>
        <p:nvSpPr>
          <p:cNvPr id="514" name="S515"/>
          <p:cNvSpPr/>
          <p:nvPr/>
        </p:nvSpPr>
        <p:spPr>
          <a:xfrm>
            <a:off x="838200" y="5295900"/>
            <a:ext cx="101600" cy="10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5" name="S516"/>
          <p:cNvSpPr/>
          <p:nvPr/>
        </p:nvSpPr>
        <p:spPr>
          <a:xfrm>
            <a:off x="1066800" y="5232400"/>
            <a:ext cx="4699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Liquidity facility or covenant reset mechanism</a:t>
            </a:r>
          </a:p>
        </p:txBody>
      </p:sp>
      <p:sp>
        <p:nvSpPr>
          <p:cNvPr id="516" name="S517"/>
          <p:cNvSpPr/>
          <p:nvPr/>
        </p:nvSpPr>
        <p:spPr>
          <a:xfrm>
            <a:off x="838200" y="5956300"/>
            <a:ext cx="101600" cy="10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7" name="S518"/>
          <p:cNvSpPr/>
          <p:nvPr/>
        </p:nvSpPr>
        <p:spPr>
          <a:xfrm>
            <a:off x="1066800" y="5892800"/>
            <a:ext cx="4699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Resculpt at 1.40-1.45x for genuine headroom, accepting a smaller facility</a:t>
            </a:r>
          </a:p>
        </p:txBody>
      </p:sp>
      <p:sp>
        <p:nvSpPr>
          <p:cNvPr id="518" name="S519"/>
          <p:cNvSpPr/>
          <p:nvPr/>
        </p:nvSpPr>
        <p:spPr>
          <a:xfrm>
            <a:off x="6197600" y="1930400"/>
            <a:ext cx="5384800" cy="46482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9" name="S520"/>
          <p:cNvSpPr/>
          <p:nvPr/>
        </p:nvSpPr>
        <p:spPr>
          <a:xfrm>
            <a:off x="6197600" y="1930400"/>
            <a:ext cx="5384800" cy="584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0" name="S521"/>
          <p:cNvSpPr/>
          <p:nvPr/>
        </p:nvSpPr>
        <p:spPr>
          <a:xfrm>
            <a:off x="6426200" y="1981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dirty="0">
                <a:solidFill>
                  <a:srgbClr val="F2A65A"/>
                </a:solidFill>
                <a:latin typeface="Calibri"/>
              </a:rPr>
              <a:t>RISK 2</a:t>
            </a:r>
          </a:p>
        </p:txBody>
      </p:sp>
      <p:sp>
        <p:nvSpPr>
          <p:cNvPr id="521" name="S522"/>
          <p:cNvSpPr/>
          <p:nvPr/>
        </p:nvSpPr>
        <p:spPr>
          <a:xfrm>
            <a:off x="6426200" y="22098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/>
              </a:rPr>
              <a:t>Resource and capex</a:t>
            </a:r>
          </a:p>
        </p:txBody>
      </p:sp>
      <p:sp>
        <p:nvSpPr>
          <p:cNvPr id="522" name="S523"/>
          <p:cNvSpPr/>
          <p:nvPr/>
        </p:nvSpPr>
        <p:spPr>
          <a:xfrm>
            <a:off x="6426200" y="2641600"/>
            <a:ext cx="4927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The 21% net capacity factor is a single point estimate with no degradation allowance, and a 6.07% IRR absorbs neither a resource shortfall nor an overrun. A $5m overrun costs c.0.8pp of IRR.</a:t>
            </a:r>
          </a:p>
        </p:txBody>
      </p:sp>
      <p:sp>
        <p:nvSpPr>
          <p:cNvPr id="523" name="S524"/>
          <p:cNvSpPr/>
          <p:nvPr/>
        </p:nvSpPr>
        <p:spPr>
          <a:xfrm>
            <a:off x="6426200" y="3581400"/>
            <a:ext cx="4927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50" b="1" dirty="0">
                <a:solidFill>
                  <a:srgbClr val="C55A11"/>
                </a:solidFill>
                <a:latin typeface="Calibri"/>
              </a:rPr>
              <a:t>MITIGANTS</a:t>
            </a:r>
          </a:p>
        </p:txBody>
      </p:sp>
      <p:sp>
        <p:nvSpPr>
          <p:cNvPr id="524" name="S525"/>
          <p:cNvSpPr/>
          <p:nvPr/>
        </p:nvSpPr>
        <p:spPr>
          <a:xfrm>
            <a:off x="6426200" y="3975100"/>
            <a:ext cx="101600" cy="10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5" name="S526"/>
          <p:cNvSpPr/>
          <p:nvPr/>
        </p:nvSpPr>
        <p:spPr>
          <a:xfrm>
            <a:off x="6654800" y="3911600"/>
            <a:ext cx="4699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Independent P50/P90 yield study, with debt sized off P90</a:t>
            </a:r>
          </a:p>
        </p:txBody>
      </p:sp>
      <p:sp>
        <p:nvSpPr>
          <p:cNvPr id="526" name="S527"/>
          <p:cNvSpPr/>
          <p:nvPr/>
        </p:nvSpPr>
        <p:spPr>
          <a:xfrm>
            <a:off x="6426200" y="4635500"/>
            <a:ext cx="101600" cy="10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7" name="S528"/>
          <p:cNvSpPr/>
          <p:nvPr/>
        </p:nvSpPr>
        <p:spPr>
          <a:xfrm>
            <a:off x="6654800" y="4572000"/>
            <a:ext cx="4699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Fixed-price, date-certain turnkey EPC with liquidated damages</a:t>
            </a:r>
          </a:p>
        </p:txBody>
      </p:sp>
      <p:sp>
        <p:nvSpPr>
          <p:cNvPr id="528" name="S529"/>
          <p:cNvSpPr/>
          <p:nvPr/>
        </p:nvSpPr>
        <p:spPr>
          <a:xfrm>
            <a:off x="6426200" y="5295900"/>
            <a:ext cx="101600" cy="10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9" name="S530"/>
          <p:cNvSpPr/>
          <p:nvPr/>
        </p:nvSpPr>
        <p:spPr>
          <a:xfrm>
            <a:off x="6654800" y="5232400"/>
            <a:ext cx="4699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5-10% contingency inside the capex line</a:t>
            </a:r>
          </a:p>
        </p:txBody>
      </p:sp>
      <p:sp>
        <p:nvSpPr>
          <p:cNvPr id="530" name="S531"/>
          <p:cNvSpPr/>
          <p:nvPr/>
        </p:nvSpPr>
        <p:spPr>
          <a:xfrm>
            <a:off x="6426200" y="5956300"/>
            <a:ext cx="101600" cy="10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31" name="S532"/>
          <p:cNvSpPr/>
          <p:nvPr/>
        </p:nvSpPr>
        <p:spPr>
          <a:xfrm>
            <a:off x="6654800" y="5892800"/>
            <a:ext cx="4699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Inverter replacement reserve funded from operating cash from c.Year 8</a:t>
            </a:r>
          </a:p>
        </p:txBody>
      </p:sp>
    </p:spTree>
    <p:extLst>
      <p:ext uri="{BB962C8B-B14F-4D97-AF65-F5344CB8AC3E}">
        <p14:creationId xmlns:p14="http://schemas.microsoft.com/office/powerpoint/2010/main" val="1013454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501"/>
          <p:cNvSpPr/>
          <p:nvPr/>
        </p:nvSpPr>
        <p:spPr>
          <a:xfrm>
            <a:off x="609600" y="330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C55A11"/>
                </a:solidFill>
                <a:latin typeface="Calibri"/>
              </a:rPr>
              <a:t>THE ASK AND NEXT STEPS</a:t>
            </a:r>
          </a:p>
        </p:txBody>
      </p:sp>
      <p:sp>
        <p:nvSpPr>
          <p:cNvPr id="501" name="S502"/>
          <p:cNvSpPr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800" b="1" dirty="0">
                <a:solidFill>
                  <a:srgbClr val="1F3864"/>
                </a:solidFill>
                <a:latin typeface="Georgia"/>
              </a:rPr>
              <a:t>We are not asking for credit approval today</a:t>
            </a:r>
          </a:p>
        </p:txBody>
      </p:sp>
      <p:sp>
        <p:nvSpPr>
          <p:cNvPr id="502" name="S503"/>
          <p:cNvSpPr/>
          <p:nvPr/>
        </p:nvSpPr>
        <p:spPr>
          <a:xfrm>
            <a:off x="609600" y="12192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0" dirty="0">
                <a:solidFill>
                  <a:srgbClr val="404040"/>
                </a:solidFill>
                <a:latin typeface="Calibri"/>
              </a:rPr>
              <a:t>We are asking for a mandate to renegotiate the tariff, and authority to re-table this structure once it clears.</a:t>
            </a:r>
          </a:p>
        </p:txBody>
      </p:sp>
      <p:sp>
        <p:nvSpPr>
          <p:cNvPr id="503" name="S504"/>
          <p:cNvSpPr/>
          <p:nvPr/>
        </p:nvSpPr>
        <p:spPr>
          <a:xfrm>
            <a:off x="609600" y="1651000"/>
            <a:ext cx="10972800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4" name="S505"/>
          <p:cNvSpPr/>
          <p:nvPr/>
        </p:nvSpPr>
        <p:spPr>
          <a:xfrm>
            <a:off x="609600" y="2032000"/>
            <a:ext cx="10972800" cy="8636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5" name="S506"/>
          <p:cNvSpPr/>
          <p:nvPr/>
        </p:nvSpPr>
        <p:spPr>
          <a:xfrm>
            <a:off x="609600" y="2235200"/>
            <a:ext cx="4572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06" name="S507"/>
          <p:cNvSpPr/>
          <p:nvPr/>
        </p:nvSpPr>
        <p:spPr>
          <a:xfrm>
            <a:off x="1270000" y="21971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F3864"/>
                </a:solidFill>
                <a:latin typeface="Calibri"/>
              </a:rPr>
              <a:t>Approve an approach to the offtaker on tariff</a:t>
            </a:r>
          </a:p>
        </p:txBody>
      </p:sp>
      <p:sp>
        <p:nvSpPr>
          <p:cNvPr id="507" name="S508"/>
          <p:cNvSpPr/>
          <p:nvPr/>
        </p:nvSpPr>
        <p:spPr>
          <a:xfrm>
            <a:off x="1270000" y="25146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Seek 0.1009/kWh, or a blended package of tariff plus capital contribution reaching the same NPV.</a:t>
            </a:r>
          </a:p>
        </p:txBody>
      </p:sp>
      <p:sp>
        <p:nvSpPr>
          <p:cNvPr id="508" name="S509"/>
          <p:cNvSpPr/>
          <p:nvPr/>
        </p:nvSpPr>
        <p:spPr>
          <a:xfrm>
            <a:off x="9093200" y="22098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Deal team</a:t>
            </a:r>
          </a:p>
        </p:txBody>
      </p:sp>
      <p:sp>
        <p:nvSpPr>
          <p:cNvPr id="509" name="S510"/>
          <p:cNvSpPr/>
          <p:nvPr/>
        </p:nvSpPr>
        <p:spPr>
          <a:xfrm>
            <a:off x="9093200" y="24638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600" b="1" dirty="0">
                <a:solidFill>
                  <a:srgbClr val="C55A11"/>
                </a:solidFill>
                <a:latin typeface="Calibri"/>
              </a:rPr>
              <a:t>Weeks 1-4</a:t>
            </a:r>
          </a:p>
        </p:txBody>
      </p:sp>
      <p:sp>
        <p:nvSpPr>
          <p:cNvPr id="510" name="S511"/>
          <p:cNvSpPr/>
          <p:nvPr/>
        </p:nvSpPr>
        <p:spPr>
          <a:xfrm>
            <a:off x="609600" y="3022600"/>
            <a:ext cx="10972800" cy="86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1" name="S512"/>
          <p:cNvSpPr/>
          <p:nvPr/>
        </p:nvSpPr>
        <p:spPr>
          <a:xfrm>
            <a:off x="609600" y="3225800"/>
            <a:ext cx="4572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512" name="S513"/>
          <p:cNvSpPr/>
          <p:nvPr/>
        </p:nvSpPr>
        <p:spPr>
          <a:xfrm>
            <a:off x="1270000" y="31877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F3864"/>
                </a:solidFill>
                <a:latin typeface="Calibri"/>
              </a:rPr>
              <a:t>Commission an independent P50/P90 yield study</a:t>
            </a:r>
          </a:p>
        </p:txBody>
      </p:sp>
      <p:sp>
        <p:nvSpPr>
          <p:cNvPr id="513" name="S514"/>
          <p:cNvSpPr/>
          <p:nvPr/>
        </p:nvSpPr>
        <p:spPr>
          <a:xfrm>
            <a:off x="1270000" y="35052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To be completed before any credit submission; debt to be sized off P90.</a:t>
            </a:r>
          </a:p>
        </p:txBody>
      </p:sp>
      <p:sp>
        <p:nvSpPr>
          <p:cNvPr id="514" name="S515"/>
          <p:cNvSpPr/>
          <p:nvPr/>
        </p:nvSpPr>
        <p:spPr>
          <a:xfrm>
            <a:off x="9093200" y="32004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Technical adviser</a:t>
            </a:r>
          </a:p>
        </p:txBody>
      </p:sp>
      <p:sp>
        <p:nvSpPr>
          <p:cNvPr id="515" name="S516"/>
          <p:cNvSpPr/>
          <p:nvPr/>
        </p:nvSpPr>
        <p:spPr>
          <a:xfrm>
            <a:off x="9093200" y="34544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600" b="1" dirty="0">
                <a:solidFill>
                  <a:srgbClr val="C55A11"/>
                </a:solidFill>
                <a:latin typeface="Calibri"/>
              </a:rPr>
              <a:t>Weeks 1-6</a:t>
            </a:r>
          </a:p>
        </p:txBody>
      </p:sp>
      <p:sp>
        <p:nvSpPr>
          <p:cNvPr id="516" name="S517"/>
          <p:cNvSpPr/>
          <p:nvPr/>
        </p:nvSpPr>
        <p:spPr>
          <a:xfrm>
            <a:off x="609600" y="4013200"/>
            <a:ext cx="10972800" cy="8636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7" name="S518"/>
          <p:cNvSpPr/>
          <p:nvPr/>
        </p:nvSpPr>
        <p:spPr>
          <a:xfrm>
            <a:off x="609600" y="4216400"/>
            <a:ext cx="4572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518" name="S519"/>
          <p:cNvSpPr/>
          <p:nvPr/>
        </p:nvSpPr>
        <p:spPr>
          <a:xfrm>
            <a:off x="1270000" y="41783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F3864"/>
                </a:solidFill>
                <a:latin typeface="Calibri"/>
              </a:rPr>
              <a:t>Re-tender the EPC scope</a:t>
            </a:r>
          </a:p>
        </p:txBody>
      </p:sp>
      <p:sp>
        <p:nvSpPr>
          <p:cNvPr id="519" name="S520"/>
          <p:cNvSpPr/>
          <p:nvPr/>
        </p:nvSpPr>
        <p:spPr>
          <a:xfrm>
            <a:off x="1270000" y="44958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Test the $42.0m breakeven capex and whether the 30.0% saving is achievable.</a:t>
            </a:r>
          </a:p>
        </p:txBody>
      </p:sp>
      <p:sp>
        <p:nvSpPr>
          <p:cNvPr id="520" name="S521"/>
          <p:cNvSpPr/>
          <p:nvPr/>
        </p:nvSpPr>
        <p:spPr>
          <a:xfrm>
            <a:off x="9093200" y="41910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Sponsor and EPC</a:t>
            </a:r>
          </a:p>
        </p:txBody>
      </p:sp>
      <p:sp>
        <p:nvSpPr>
          <p:cNvPr id="521" name="S522"/>
          <p:cNvSpPr/>
          <p:nvPr/>
        </p:nvSpPr>
        <p:spPr>
          <a:xfrm>
            <a:off x="9093200" y="44450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600" b="1" dirty="0">
                <a:solidFill>
                  <a:srgbClr val="C55A11"/>
                </a:solidFill>
                <a:latin typeface="Calibri"/>
              </a:rPr>
              <a:t>Weeks 2-6</a:t>
            </a:r>
          </a:p>
        </p:txBody>
      </p:sp>
      <p:sp>
        <p:nvSpPr>
          <p:cNvPr id="522" name="S523"/>
          <p:cNvSpPr/>
          <p:nvPr/>
        </p:nvSpPr>
        <p:spPr>
          <a:xfrm>
            <a:off x="609600" y="5003800"/>
            <a:ext cx="10972800" cy="86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3" name="S524"/>
          <p:cNvSpPr/>
          <p:nvPr/>
        </p:nvSpPr>
        <p:spPr>
          <a:xfrm>
            <a:off x="609600" y="5207000"/>
            <a:ext cx="4572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524" name="S525"/>
          <p:cNvSpPr/>
          <p:nvPr/>
        </p:nvSpPr>
        <p:spPr>
          <a:xfrm>
            <a:off x="1270000" y="51689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1F3864"/>
                </a:solidFill>
                <a:latin typeface="Calibri"/>
              </a:rPr>
              <a:t>Return to committee with a revised base case</a:t>
            </a:r>
          </a:p>
        </p:txBody>
      </p:sp>
      <p:sp>
        <p:nvSpPr>
          <p:cNvPr id="525" name="S526"/>
          <p:cNvSpPr/>
          <p:nvPr/>
        </p:nvSpPr>
        <p:spPr>
          <a:xfrm>
            <a:off x="1270000" y="548640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Same structure, new economics.</a:t>
            </a:r>
          </a:p>
        </p:txBody>
      </p:sp>
      <p:sp>
        <p:nvSpPr>
          <p:cNvPr id="526" name="S527"/>
          <p:cNvSpPr/>
          <p:nvPr/>
        </p:nvSpPr>
        <p:spPr>
          <a:xfrm>
            <a:off x="9093200" y="5181600"/>
            <a:ext cx="2489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Deal team</a:t>
            </a:r>
          </a:p>
        </p:txBody>
      </p:sp>
      <p:sp>
        <p:nvSpPr>
          <p:cNvPr id="527" name="S528"/>
          <p:cNvSpPr/>
          <p:nvPr/>
        </p:nvSpPr>
        <p:spPr>
          <a:xfrm>
            <a:off x="9093200" y="5435600"/>
            <a:ext cx="2489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en-US" sz="1600" b="1" dirty="0">
                <a:solidFill>
                  <a:srgbClr val="C55A11"/>
                </a:solidFill>
                <a:latin typeface="Calibri"/>
              </a:rPr>
              <a:t>Week 6</a:t>
            </a:r>
          </a:p>
        </p:txBody>
      </p:sp>
      <p:sp>
        <p:nvSpPr>
          <p:cNvPr id="528" name="S529"/>
          <p:cNvSpPr/>
          <p:nvPr/>
        </p:nvSpPr>
        <p:spPr>
          <a:xfrm>
            <a:off x="609600" y="6045200"/>
            <a:ext cx="10972800" cy="609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529" name="S530"/>
          <p:cNvSpPr/>
          <p:nvPr/>
        </p:nvSpPr>
        <p:spPr>
          <a:xfrm>
            <a:off x="889000" y="6197600"/>
            <a:ext cx="1041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Hold the structure as-is — $34.0m at 56.6% gearing, sculpted to 1.40x. It is ready to execute the moment the economics clear.</a:t>
            </a:r>
          </a:p>
        </p:txBody>
      </p:sp>
    </p:spTree>
    <p:extLst>
      <p:ext uri="{BB962C8B-B14F-4D97-AF65-F5344CB8AC3E}">
        <p14:creationId xmlns:p14="http://schemas.microsoft.com/office/powerpoint/2010/main" val="3439481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501"/>
          <p:cNvSpPr/>
          <p:nvPr/>
        </p:nvSpPr>
        <p:spPr>
          <a:xfrm>
            <a:off x="609600" y="330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C55A11"/>
                </a:solidFill>
                <a:latin typeface="Calibri"/>
              </a:rPr>
              <a:t>APPENDIX A1  |  FULL DEBT AMORTISATION SCHEDULE</a:t>
            </a:r>
          </a:p>
        </p:txBody>
      </p:sp>
      <p:sp>
        <p:nvSpPr>
          <p:cNvPr id="501" name="S502"/>
          <p:cNvSpPr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600" b="1" dirty="0">
                <a:solidFill>
                  <a:srgbClr val="1F3864"/>
                </a:solidFill>
                <a:latin typeface="Georgia"/>
              </a:rPr>
              <a:t>Senior debt outstanding, drawdown to repayment</a:t>
            </a:r>
          </a:p>
        </p:txBody>
      </p:sp>
      <p:sp>
        <p:nvSpPr>
          <p:cNvPr id="502" name="S503"/>
          <p:cNvSpPr/>
          <p:nvPr/>
        </p:nvSpPr>
        <p:spPr>
          <a:xfrm>
            <a:off x="609600" y="12192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0" dirty="0">
                <a:solidFill>
                  <a:srgbClr val="404040"/>
                </a:solidFill>
                <a:latin typeface="Calibri"/>
              </a:rPr>
              <a:t>Period-by-period drawdown, interest, principal, closing balance and DSCR.</a:t>
            </a:r>
          </a:p>
        </p:txBody>
      </p:sp>
      <p:sp>
        <p:nvSpPr>
          <p:cNvPr id="503" name="S504"/>
          <p:cNvSpPr/>
          <p:nvPr/>
        </p:nvSpPr>
        <p:spPr>
          <a:xfrm>
            <a:off x="609600" y="1651000"/>
            <a:ext cx="10972800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4" name="S505"/>
          <p:cNvSpPr/>
          <p:nvPr/>
        </p:nvSpPr>
        <p:spPr>
          <a:xfrm>
            <a:off x="8534400" y="1930400"/>
            <a:ext cx="3048000" cy="7620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5" name="S506"/>
          <p:cNvSpPr/>
          <p:nvPr/>
        </p:nvSpPr>
        <p:spPr>
          <a:xfrm>
            <a:off x="8712200" y="20574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0" dirty="0">
                <a:solidFill>
                  <a:srgbClr val="404040"/>
                </a:solidFill>
                <a:latin typeface="Calibri"/>
              </a:rPr>
              <a:t>Facility size</a:t>
            </a:r>
          </a:p>
        </p:txBody>
      </p:sp>
      <p:sp>
        <p:nvSpPr>
          <p:cNvPr id="506" name="S507"/>
          <p:cNvSpPr/>
          <p:nvPr/>
        </p:nvSpPr>
        <p:spPr>
          <a:xfrm>
            <a:off x="8712200" y="22987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F3864"/>
                </a:solidFill>
                <a:latin typeface="Georgia"/>
              </a:rPr>
              <a:t>$33.97m</a:t>
            </a:r>
          </a:p>
        </p:txBody>
      </p:sp>
      <p:sp>
        <p:nvSpPr>
          <p:cNvPr id="507" name="S508"/>
          <p:cNvSpPr/>
          <p:nvPr/>
        </p:nvSpPr>
        <p:spPr>
          <a:xfrm>
            <a:off x="8534400" y="2819400"/>
            <a:ext cx="3048000" cy="7620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8" name="S509"/>
          <p:cNvSpPr/>
          <p:nvPr/>
        </p:nvSpPr>
        <p:spPr>
          <a:xfrm>
            <a:off x="8712200" y="29464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0" dirty="0">
                <a:solidFill>
                  <a:srgbClr val="404040"/>
                </a:solidFill>
                <a:latin typeface="Calibri"/>
              </a:rPr>
              <a:t>Coupon</a:t>
            </a:r>
          </a:p>
        </p:txBody>
      </p:sp>
      <p:sp>
        <p:nvSpPr>
          <p:cNvPr id="509" name="S510"/>
          <p:cNvSpPr/>
          <p:nvPr/>
        </p:nvSpPr>
        <p:spPr>
          <a:xfrm>
            <a:off x="8712200" y="31877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F3864"/>
                </a:solidFill>
                <a:latin typeface="Georgia"/>
              </a:rPr>
              <a:t>8.0%</a:t>
            </a:r>
          </a:p>
        </p:txBody>
      </p:sp>
      <p:sp>
        <p:nvSpPr>
          <p:cNvPr id="510" name="S511"/>
          <p:cNvSpPr/>
          <p:nvPr/>
        </p:nvSpPr>
        <p:spPr>
          <a:xfrm>
            <a:off x="8534400" y="3708400"/>
            <a:ext cx="3048000" cy="7620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1" name="S512"/>
          <p:cNvSpPr/>
          <p:nvPr/>
        </p:nvSpPr>
        <p:spPr>
          <a:xfrm>
            <a:off x="8712200" y="38354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0" dirty="0">
                <a:solidFill>
                  <a:srgbClr val="404040"/>
                </a:solidFill>
                <a:latin typeface="Calibri"/>
              </a:rPr>
              <a:t>Tenor</a:t>
            </a:r>
          </a:p>
        </p:txBody>
      </p:sp>
      <p:sp>
        <p:nvSpPr>
          <p:cNvPr id="512" name="S513"/>
          <p:cNvSpPr/>
          <p:nvPr/>
        </p:nvSpPr>
        <p:spPr>
          <a:xfrm>
            <a:off x="8712200" y="40767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F3864"/>
                </a:solidFill>
                <a:latin typeface="Georgia"/>
              </a:rPr>
              <a:t>15 years</a:t>
            </a:r>
          </a:p>
        </p:txBody>
      </p:sp>
      <p:sp>
        <p:nvSpPr>
          <p:cNvPr id="513" name="S514"/>
          <p:cNvSpPr/>
          <p:nvPr/>
        </p:nvSpPr>
        <p:spPr>
          <a:xfrm>
            <a:off x="8534400" y="4597400"/>
            <a:ext cx="3048000" cy="7620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4" name="S515"/>
          <p:cNvSpPr/>
          <p:nvPr/>
        </p:nvSpPr>
        <p:spPr>
          <a:xfrm>
            <a:off x="8712200" y="47244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0" dirty="0">
                <a:solidFill>
                  <a:srgbClr val="404040"/>
                </a:solidFill>
                <a:latin typeface="Calibri"/>
              </a:rPr>
              <a:t>Fully repaid</a:t>
            </a:r>
          </a:p>
        </p:txBody>
      </p:sp>
      <p:sp>
        <p:nvSpPr>
          <p:cNvPr id="515" name="S516"/>
          <p:cNvSpPr/>
          <p:nvPr/>
        </p:nvSpPr>
        <p:spPr>
          <a:xfrm>
            <a:off x="8712200" y="49657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F3864"/>
                </a:solidFill>
                <a:latin typeface="Georgia"/>
              </a:rPr>
              <a:t>Year 12</a:t>
            </a:r>
          </a:p>
        </p:txBody>
      </p:sp>
      <p:sp>
        <p:nvSpPr>
          <p:cNvPr id="516" name="S517"/>
          <p:cNvSpPr/>
          <p:nvPr/>
        </p:nvSpPr>
        <p:spPr>
          <a:xfrm>
            <a:off x="8534400" y="5486400"/>
            <a:ext cx="3048000" cy="7620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7" name="S518"/>
          <p:cNvSpPr/>
          <p:nvPr/>
        </p:nvSpPr>
        <p:spPr>
          <a:xfrm>
            <a:off x="8712200" y="5613400"/>
            <a:ext cx="269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0" dirty="0">
                <a:solidFill>
                  <a:srgbClr val="404040"/>
                </a:solidFill>
                <a:latin typeface="Calibri"/>
              </a:rPr>
              <a:t>Total interest paid</a:t>
            </a:r>
          </a:p>
        </p:txBody>
      </p:sp>
      <p:sp>
        <p:nvSpPr>
          <p:cNvPr id="518" name="S519"/>
          <p:cNvSpPr/>
          <p:nvPr/>
        </p:nvSpPr>
        <p:spPr>
          <a:xfrm>
            <a:off x="8712200" y="5854700"/>
            <a:ext cx="2692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800" b="1" dirty="0">
                <a:solidFill>
                  <a:srgbClr val="1F3864"/>
                </a:solidFill>
                <a:latin typeface="Georgia"/>
              </a:rPr>
              <a:t>$20.50m</a:t>
            </a:r>
          </a:p>
        </p:txBody>
      </p:sp>
      <p:sp>
        <p:nvSpPr>
          <p:cNvPr id="519" name="S520"/>
          <p:cNvSpPr/>
          <p:nvPr/>
        </p:nvSpPr>
        <p:spPr>
          <a:xfrm>
            <a:off x="609600" y="6299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0" dirty="0">
                <a:solidFill>
                  <a:srgbClr val="404040"/>
                </a:solidFill>
                <a:latin typeface="Calibri"/>
              </a:rPr>
              <a:t>Source: Debt tab, rows 38-50.</a:t>
            </a:r>
          </a:p>
        </p:txBody>
      </p:sp>
      <p:graphicFrame>
        <p:nvGraphicFramePr>
          <p:cNvPr id="152" name="Chart DebtBal"/>
          <p:cNvGraphicFramePr/>
          <p:nvPr/>
        </p:nvGraphicFramePr>
        <p:xfrm>
          <a:off x="609600" y="1930400"/>
          <a:ext cx="76200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0971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501"/>
          <p:cNvSpPr/>
          <p:nvPr/>
        </p:nvSpPr>
        <p:spPr>
          <a:xfrm>
            <a:off x="609600" y="330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C55A11"/>
                </a:solidFill>
                <a:latin typeface="Calibri"/>
              </a:rPr>
              <a:t>APPENDIX A2  |  CAPEX VERSUS CAPACITY FACTOR SENSITIVITY</a:t>
            </a:r>
          </a:p>
        </p:txBody>
      </p:sp>
      <p:sp>
        <p:nvSpPr>
          <p:cNvPr id="501" name="S502"/>
          <p:cNvSpPr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600" b="1" dirty="0">
                <a:solidFill>
                  <a:srgbClr val="1F3864"/>
                </a:solidFill>
                <a:latin typeface="Georgia"/>
              </a:rPr>
              <a:t>Capex is the more powerful and more controllable lever</a:t>
            </a:r>
          </a:p>
        </p:txBody>
      </p:sp>
      <p:sp>
        <p:nvSpPr>
          <p:cNvPr id="502" name="S503"/>
          <p:cNvSpPr/>
          <p:nvPr/>
        </p:nvSpPr>
        <p:spPr>
          <a:xfrm>
            <a:off x="609600" y="12192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0" dirty="0">
                <a:solidFill>
                  <a:srgbClr val="404040"/>
                </a:solidFill>
                <a:latin typeface="Calibri"/>
              </a:rPr>
              <a:t>Useful if the EPC re-tender proposal is challenged.</a:t>
            </a:r>
          </a:p>
        </p:txBody>
      </p:sp>
      <p:sp>
        <p:nvSpPr>
          <p:cNvPr id="503" name="S504"/>
          <p:cNvSpPr/>
          <p:nvPr/>
        </p:nvSpPr>
        <p:spPr>
          <a:xfrm>
            <a:off x="609600" y="1651000"/>
            <a:ext cx="10972800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4" name="S505"/>
          <p:cNvSpPr/>
          <p:nvPr/>
        </p:nvSpPr>
        <p:spPr>
          <a:xfrm>
            <a:off x="609600" y="1930400"/>
            <a:ext cx="5334000" cy="11176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5" name="S506"/>
          <p:cNvSpPr/>
          <p:nvPr/>
        </p:nvSpPr>
        <p:spPr>
          <a:xfrm>
            <a:off x="609600" y="1930400"/>
            <a:ext cx="50800" cy="1117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6" name="S507"/>
          <p:cNvSpPr/>
          <p:nvPr/>
        </p:nvSpPr>
        <p:spPr>
          <a:xfrm>
            <a:off x="863600" y="2082800"/>
            <a:ext cx="4876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/>
              </a:rPr>
              <a:t>$5m of capex saving</a:t>
            </a:r>
          </a:p>
        </p:txBody>
      </p:sp>
      <p:sp>
        <p:nvSpPr>
          <p:cNvPr id="507" name="S508"/>
          <p:cNvSpPr/>
          <p:nvPr/>
        </p:nvSpPr>
        <p:spPr>
          <a:xfrm>
            <a:off x="863600" y="2387600"/>
            <a:ext cx="4876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is worth roughly 0.8pp of project IRR — a materially steeper gradient than the resource assumption delivers.</a:t>
            </a:r>
          </a:p>
        </p:txBody>
      </p:sp>
      <p:sp>
        <p:nvSpPr>
          <p:cNvPr id="508" name="S509"/>
          <p:cNvSpPr/>
          <p:nvPr/>
        </p:nvSpPr>
        <p:spPr>
          <a:xfrm>
            <a:off x="609600" y="3175000"/>
            <a:ext cx="5334000" cy="11176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9" name="S510"/>
          <p:cNvSpPr/>
          <p:nvPr/>
        </p:nvSpPr>
        <p:spPr>
          <a:xfrm>
            <a:off x="609600" y="3175000"/>
            <a:ext cx="50800" cy="1117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0" name="S511"/>
          <p:cNvSpPr/>
          <p:nvPr/>
        </p:nvSpPr>
        <p:spPr>
          <a:xfrm>
            <a:off x="863600" y="3327400"/>
            <a:ext cx="4876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/>
              </a:rPr>
              <a:t>Breakeven capex is $42.03m</a:t>
            </a:r>
          </a:p>
        </p:txBody>
      </p:sp>
      <p:sp>
        <p:nvSpPr>
          <p:cNvPr id="511" name="S512"/>
          <p:cNvSpPr/>
          <p:nvPr/>
        </p:nvSpPr>
        <p:spPr>
          <a:xfrm>
            <a:off x="863600" y="3632200"/>
            <a:ext cx="4876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a 30.0% reduction against the $60.0m budget, and the only breakeven lever that does not depend on the offtaker.</a:t>
            </a:r>
          </a:p>
        </p:txBody>
      </p:sp>
      <p:sp>
        <p:nvSpPr>
          <p:cNvPr id="512" name="S513"/>
          <p:cNvSpPr/>
          <p:nvPr/>
        </p:nvSpPr>
        <p:spPr>
          <a:xfrm>
            <a:off x="609600" y="4419600"/>
            <a:ext cx="5334000" cy="1117600"/>
          </a:xfrm>
          <a:prstGeom prst="rect">
            <a:avLst/>
          </a:prstGeom>
          <a:solidFill>
            <a:srgbClr val="EDF0F5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3" name="S514"/>
          <p:cNvSpPr/>
          <p:nvPr/>
        </p:nvSpPr>
        <p:spPr>
          <a:xfrm>
            <a:off x="609600" y="4419600"/>
            <a:ext cx="50800" cy="1117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4" name="S515"/>
          <p:cNvSpPr/>
          <p:nvPr/>
        </p:nvSpPr>
        <p:spPr>
          <a:xfrm>
            <a:off x="863600" y="4572000"/>
            <a:ext cx="4876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/>
              </a:rPr>
              <a:t>Capex is controllable</a:t>
            </a:r>
          </a:p>
        </p:txBody>
      </p:sp>
      <p:sp>
        <p:nvSpPr>
          <p:cNvPr id="515" name="S516"/>
          <p:cNvSpPr/>
          <p:nvPr/>
        </p:nvSpPr>
        <p:spPr>
          <a:xfrm>
            <a:off x="863600" y="4876800"/>
            <a:ext cx="48768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unlike the weather, it is testable through a competitive EPC re-tender with fixed-price, date-certain terms.</a:t>
            </a:r>
          </a:p>
        </p:txBody>
      </p:sp>
      <p:sp>
        <p:nvSpPr>
          <p:cNvPr id="516" name="S517"/>
          <p:cNvSpPr/>
          <p:nvPr/>
        </p:nvSpPr>
        <p:spPr>
          <a:xfrm>
            <a:off x="6400800" y="1930400"/>
            <a:ext cx="5181600" cy="3581400"/>
          </a:xfrm>
          <a:prstGeom prst="rect">
            <a:avLst/>
          </a:prstGeom>
          <a:noFill/>
          <a:ln w="19050">
            <a:solidFill>
              <a:srgbClr val="C55A11"/>
            </a:solidFill>
            <a:prstDash val="dash"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517" name="S518"/>
          <p:cNvSpPr/>
          <p:nvPr/>
        </p:nvSpPr>
        <p:spPr>
          <a:xfrm>
            <a:off x="6705600" y="33274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700" b="1" dirty="0">
                <a:solidFill>
                  <a:srgbClr val="1F3864"/>
                </a:solidFill>
                <a:latin typeface="Georgia"/>
              </a:rPr>
              <a:t>Grid 3 — Sensitivities L11:S18</a:t>
            </a:r>
          </a:p>
        </p:txBody>
      </p:sp>
      <p:sp>
        <p:nvSpPr>
          <p:cNvPr id="518" name="S519"/>
          <p:cNvSpPr/>
          <p:nvPr/>
        </p:nvSpPr>
        <p:spPr>
          <a:xfrm>
            <a:off x="6705600" y="3708400"/>
            <a:ext cx="457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Heat map to be dropped in once the grid values are shared.</a:t>
            </a:r>
          </a:p>
        </p:txBody>
      </p:sp>
      <p:sp>
        <p:nvSpPr>
          <p:cNvPr id="519" name="S520"/>
          <p:cNvSpPr/>
          <p:nvPr/>
        </p:nvSpPr>
        <p:spPr>
          <a:xfrm>
            <a:off x="609600" y="57150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0" dirty="0">
                <a:solidFill>
                  <a:srgbClr val="404040"/>
                </a:solidFill>
                <a:latin typeface="Calibri"/>
              </a:rPr>
              <a:t>Source: Sensitivities tab, Grid 3 (L11:S18).</a:t>
            </a:r>
          </a:p>
        </p:txBody>
      </p:sp>
    </p:spTree>
    <p:extLst>
      <p:ext uri="{BB962C8B-B14F-4D97-AF65-F5344CB8AC3E}">
        <p14:creationId xmlns:p14="http://schemas.microsoft.com/office/powerpoint/2010/main" val="610986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501"/>
          <p:cNvSpPr/>
          <p:nvPr/>
        </p:nvSpPr>
        <p:spPr>
          <a:xfrm>
            <a:off x="609600" y="330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C55A11"/>
                </a:solidFill>
                <a:latin typeface="Calibri"/>
              </a:rPr>
              <a:t>APPENDIX A3  |  ASSUMPTIONS AND STATED JUDGEMENTS</a:t>
            </a:r>
          </a:p>
        </p:txBody>
      </p:sp>
      <p:sp>
        <p:nvSpPr>
          <p:cNvPr id="501" name="S502"/>
          <p:cNvSpPr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600" b="1" dirty="0">
                <a:solidFill>
                  <a:srgbClr val="1F3864"/>
                </a:solidFill>
                <a:latin typeface="Georgia"/>
              </a:rPr>
              <a:t>Where the case was silent, we made the call explicit</a:t>
            </a:r>
          </a:p>
        </p:txBody>
      </p:sp>
      <p:sp>
        <p:nvSpPr>
          <p:cNvPr id="502" name="S503"/>
          <p:cNvSpPr/>
          <p:nvPr/>
        </p:nvSpPr>
        <p:spPr>
          <a:xfrm>
            <a:off x="609600" y="12192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0" dirty="0">
                <a:solidFill>
                  <a:srgbClr val="404040"/>
                </a:solidFill>
                <a:latin typeface="Calibri"/>
              </a:rPr>
              <a:t>The honesty slide. Each judgement below is a modelling choice, not a fact from the case.</a:t>
            </a:r>
          </a:p>
        </p:txBody>
      </p:sp>
      <p:sp>
        <p:nvSpPr>
          <p:cNvPr id="503" name="S504"/>
          <p:cNvSpPr/>
          <p:nvPr/>
        </p:nvSpPr>
        <p:spPr>
          <a:xfrm>
            <a:off x="609600" y="1651000"/>
            <a:ext cx="10972800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4" name="S505"/>
          <p:cNvSpPr/>
          <p:nvPr/>
        </p:nvSpPr>
        <p:spPr>
          <a:xfrm>
            <a:off x="609600" y="1981200"/>
            <a:ext cx="5384800" cy="1320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5" name="S506"/>
          <p:cNvSpPr/>
          <p:nvPr/>
        </p:nvSpPr>
        <p:spPr>
          <a:xfrm>
            <a:off x="609600" y="1981200"/>
            <a:ext cx="50800" cy="13208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6" name="S507"/>
          <p:cNvSpPr/>
          <p:nvPr/>
        </p:nvSpPr>
        <p:spPr>
          <a:xfrm>
            <a:off x="863600" y="2159000"/>
            <a:ext cx="4876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/>
              </a:rPr>
              <a:t>Panel degradation</a:t>
            </a:r>
          </a:p>
        </p:txBody>
      </p:sp>
      <p:sp>
        <p:nvSpPr>
          <p:cNvPr id="507" name="S508"/>
          <p:cNvSpPr/>
          <p:nvPr/>
        </p:nvSpPr>
        <p:spPr>
          <a:xfrm>
            <a:off x="863600" y="2489200"/>
            <a:ext cx="4876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None applied. Generation is held flat at 91.98 GWh across the 20-year life.</a:t>
            </a:r>
          </a:p>
        </p:txBody>
      </p:sp>
      <p:sp>
        <p:nvSpPr>
          <p:cNvPr id="508" name="S509"/>
          <p:cNvSpPr/>
          <p:nvPr/>
        </p:nvSpPr>
        <p:spPr>
          <a:xfrm>
            <a:off x="6197600" y="1981200"/>
            <a:ext cx="5384800" cy="1320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9" name="S510"/>
          <p:cNvSpPr/>
          <p:nvPr/>
        </p:nvSpPr>
        <p:spPr>
          <a:xfrm>
            <a:off x="6197600" y="1981200"/>
            <a:ext cx="50800" cy="13208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0" name="S511"/>
          <p:cNvSpPr/>
          <p:nvPr/>
        </p:nvSpPr>
        <p:spPr>
          <a:xfrm>
            <a:off x="6451600" y="2159000"/>
            <a:ext cx="4876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/>
              </a:rPr>
              <a:t>Working capital</a:t>
            </a:r>
          </a:p>
        </p:txBody>
      </p:sp>
      <p:sp>
        <p:nvSpPr>
          <p:cNvPr id="511" name="S512"/>
          <p:cNvSpPr/>
          <p:nvPr/>
        </p:nvSpPr>
        <p:spPr>
          <a:xfrm>
            <a:off x="6451600" y="2489200"/>
            <a:ext cx="4876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Assumed nil. No receivables or payables movement is modelled.</a:t>
            </a:r>
          </a:p>
        </p:txBody>
      </p:sp>
      <p:sp>
        <p:nvSpPr>
          <p:cNvPr id="512" name="S513"/>
          <p:cNvSpPr/>
          <p:nvPr/>
        </p:nvSpPr>
        <p:spPr>
          <a:xfrm>
            <a:off x="609600" y="3479800"/>
            <a:ext cx="5384800" cy="1320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3" name="S514"/>
          <p:cNvSpPr/>
          <p:nvPr/>
        </p:nvSpPr>
        <p:spPr>
          <a:xfrm>
            <a:off x="609600" y="3479800"/>
            <a:ext cx="50800" cy="13208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4" name="S515"/>
          <p:cNvSpPr/>
          <p:nvPr/>
        </p:nvSpPr>
        <p:spPr>
          <a:xfrm>
            <a:off x="863600" y="3657600"/>
            <a:ext cx="4876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/>
              </a:rPr>
              <a:t>Maintenance capex</a:t>
            </a:r>
          </a:p>
        </p:txBody>
      </p:sp>
      <p:sp>
        <p:nvSpPr>
          <p:cNvPr id="515" name="S516"/>
          <p:cNvSpPr/>
          <p:nvPr/>
        </p:nvSpPr>
        <p:spPr>
          <a:xfrm>
            <a:off x="863600" y="3987800"/>
            <a:ext cx="4876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None modelled beyond the operating cost line.</a:t>
            </a:r>
          </a:p>
        </p:txBody>
      </p:sp>
      <p:sp>
        <p:nvSpPr>
          <p:cNvPr id="516" name="S517"/>
          <p:cNvSpPr/>
          <p:nvPr/>
        </p:nvSpPr>
        <p:spPr>
          <a:xfrm>
            <a:off x="6197600" y="3479800"/>
            <a:ext cx="5384800" cy="1320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7" name="S518"/>
          <p:cNvSpPr/>
          <p:nvPr/>
        </p:nvSpPr>
        <p:spPr>
          <a:xfrm>
            <a:off x="6197600" y="3479800"/>
            <a:ext cx="50800" cy="13208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8" name="S519"/>
          <p:cNvSpPr/>
          <p:nvPr/>
        </p:nvSpPr>
        <p:spPr>
          <a:xfrm>
            <a:off x="6451600" y="3657600"/>
            <a:ext cx="4876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/>
              </a:rPr>
              <a:t>DSRA treatment</a:t>
            </a:r>
          </a:p>
        </p:txBody>
      </p:sp>
      <p:sp>
        <p:nvSpPr>
          <p:cNvPr id="519" name="S520"/>
          <p:cNvSpPr/>
          <p:nvPr/>
        </p:nvSpPr>
        <p:spPr>
          <a:xfrm>
            <a:off x="6451600" y="3987800"/>
            <a:ext cx="4876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Equity-funded and outside the gearing base — the conservative reading.</a:t>
            </a:r>
          </a:p>
        </p:txBody>
      </p:sp>
      <p:sp>
        <p:nvSpPr>
          <p:cNvPr id="520" name="S521"/>
          <p:cNvSpPr/>
          <p:nvPr/>
        </p:nvSpPr>
        <p:spPr>
          <a:xfrm>
            <a:off x="609600" y="4978400"/>
            <a:ext cx="5384800" cy="1320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1" name="S522"/>
          <p:cNvSpPr/>
          <p:nvPr/>
        </p:nvSpPr>
        <p:spPr>
          <a:xfrm>
            <a:off x="609600" y="4978400"/>
            <a:ext cx="50800" cy="13208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2" name="S523"/>
          <p:cNvSpPr/>
          <p:nvPr/>
        </p:nvSpPr>
        <p:spPr>
          <a:xfrm>
            <a:off x="863600" y="5156200"/>
            <a:ext cx="4876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/>
              </a:rPr>
              <a:t>Tax in CFADS</a:t>
            </a:r>
          </a:p>
        </p:txBody>
      </p:sp>
      <p:sp>
        <p:nvSpPr>
          <p:cNvPr id="523" name="S524"/>
          <p:cNvSpPr/>
          <p:nvPr/>
        </p:nvSpPr>
        <p:spPr>
          <a:xfrm>
            <a:off x="863600" y="5486400"/>
            <a:ext cx="4876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Applied on an unlevered basis, so CFADS is independent of the financing structure.</a:t>
            </a:r>
          </a:p>
        </p:txBody>
      </p:sp>
      <p:sp>
        <p:nvSpPr>
          <p:cNvPr id="524" name="S525"/>
          <p:cNvSpPr/>
          <p:nvPr/>
        </p:nvSpPr>
        <p:spPr>
          <a:xfrm>
            <a:off x="6197600" y="4978400"/>
            <a:ext cx="5384800" cy="1320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5" name="S526"/>
          <p:cNvSpPr/>
          <p:nvPr/>
        </p:nvSpPr>
        <p:spPr>
          <a:xfrm>
            <a:off x="6197600" y="4978400"/>
            <a:ext cx="50800" cy="13208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6" name="S527"/>
          <p:cNvSpPr/>
          <p:nvPr/>
        </p:nvSpPr>
        <p:spPr>
          <a:xfrm>
            <a:off x="6451600" y="5156200"/>
            <a:ext cx="4876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1" dirty="0">
                <a:solidFill>
                  <a:srgbClr val="1F3864"/>
                </a:solidFill>
                <a:latin typeface="Calibri"/>
              </a:rPr>
              <a:t>Terminal value</a:t>
            </a:r>
          </a:p>
        </p:txBody>
      </p:sp>
      <p:sp>
        <p:nvSpPr>
          <p:cNvPr id="527" name="S528"/>
          <p:cNvSpPr/>
          <p:nvPr/>
        </p:nvSpPr>
        <p:spPr>
          <a:xfrm>
            <a:off x="6451600" y="5486400"/>
            <a:ext cx="4876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Nil. No residual or repowering value is credited at Year 20.</a:t>
            </a:r>
          </a:p>
        </p:txBody>
      </p:sp>
      <p:sp>
        <p:nvSpPr>
          <p:cNvPr id="528" name="S529"/>
          <p:cNvSpPr/>
          <p:nvPr/>
        </p:nvSpPr>
        <p:spPr>
          <a:xfrm>
            <a:off x="609600" y="65024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0" dirty="0">
                <a:solidFill>
                  <a:srgbClr val="404040"/>
                </a:solidFill>
                <a:latin typeface="Calibri"/>
              </a:rPr>
              <a:t>Source: Assumptions tab, rows 47-57. Four further judgements are listed there in full.</a:t>
            </a:r>
          </a:p>
        </p:txBody>
      </p:sp>
    </p:spTree>
    <p:extLst>
      <p:ext uri="{BB962C8B-B14F-4D97-AF65-F5344CB8AC3E}">
        <p14:creationId xmlns:p14="http://schemas.microsoft.com/office/powerpoint/2010/main" val="4167813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501"/>
          <p:cNvSpPr/>
          <p:nvPr/>
        </p:nvSpPr>
        <p:spPr>
          <a:xfrm>
            <a:off x="609600" y="330200"/>
            <a:ext cx="1097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300" b="1" dirty="0">
                <a:solidFill>
                  <a:srgbClr val="C55A11"/>
                </a:solidFill>
                <a:latin typeface="Calibri"/>
              </a:rPr>
              <a:t>APPENDIX A4  |  SCULPTED VERSUS LEVEL REPAYMENT</a:t>
            </a:r>
          </a:p>
        </p:txBody>
      </p:sp>
      <p:sp>
        <p:nvSpPr>
          <p:cNvPr id="501" name="S502"/>
          <p:cNvSpPr/>
          <p:nvPr/>
        </p:nvSpPr>
        <p:spPr>
          <a:xfrm>
            <a:off x="609600" y="635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2600" b="1" dirty="0">
                <a:solidFill>
                  <a:srgbClr val="1F3864"/>
                </a:solidFill>
                <a:latin typeface="Georgia"/>
              </a:rPr>
              <a:t>Why we sculpted, and what it costs in headroom</a:t>
            </a:r>
          </a:p>
        </p:txBody>
      </p:sp>
      <p:sp>
        <p:nvSpPr>
          <p:cNvPr id="502" name="S503"/>
          <p:cNvSpPr/>
          <p:nvPr/>
        </p:nvSpPr>
        <p:spPr>
          <a:xfrm>
            <a:off x="609600" y="12192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600" b="0" dirty="0">
                <a:solidFill>
                  <a:srgbClr val="404040"/>
                </a:solidFill>
                <a:latin typeface="Calibri"/>
              </a:rPr>
              <a:t>Held in reserve: the term sheet asked explicitly for justification of the profile choice.</a:t>
            </a:r>
          </a:p>
        </p:txBody>
      </p:sp>
      <p:sp>
        <p:nvSpPr>
          <p:cNvPr id="503" name="S504"/>
          <p:cNvSpPr/>
          <p:nvPr/>
        </p:nvSpPr>
        <p:spPr>
          <a:xfrm>
            <a:off x="609600" y="1651000"/>
            <a:ext cx="10972800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4" name="S505"/>
          <p:cNvSpPr/>
          <p:nvPr/>
        </p:nvSpPr>
        <p:spPr>
          <a:xfrm>
            <a:off x="609600" y="1930400"/>
            <a:ext cx="5384800" cy="46482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5" name="S506"/>
          <p:cNvSpPr/>
          <p:nvPr/>
        </p:nvSpPr>
        <p:spPr>
          <a:xfrm>
            <a:off x="609600" y="1930400"/>
            <a:ext cx="5384800" cy="558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6" name="S507"/>
          <p:cNvSpPr/>
          <p:nvPr/>
        </p:nvSpPr>
        <p:spPr>
          <a:xfrm>
            <a:off x="863600" y="20701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/>
              </a:rPr>
              <a:t>Sculpted repayment  (selected)</a:t>
            </a:r>
          </a:p>
        </p:txBody>
      </p:sp>
      <p:sp>
        <p:nvSpPr>
          <p:cNvPr id="507" name="S508"/>
          <p:cNvSpPr/>
          <p:nvPr/>
        </p:nvSpPr>
        <p:spPr>
          <a:xfrm>
            <a:off x="863600" y="2781300"/>
            <a:ext cx="101600" cy="10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08" name="S509"/>
          <p:cNvSpPr/>
          <p:nvPr/>
        </p:nvSpPr>
        <p:spPr>
          <a:xfrm>
            <a:off x="1092200" y="2717800"/>
            <a:ext cx="4673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Principal is shaped to CFADS, so DSCR is flat at 1.30x in every period — minimum equals average.</a:t>
            </a:r>
          </a:p>
        </p:txBody>
      </p:sp>
      <p:sp>
        <p:nvSpPr>
          <p:cNvPr id="509" name="S510"/>
          <p:cNvSpPr/>
          <p:nvPr/>
        </p:nvSpPr>
        <p:spPr>
          <a:xfrm>
            <a:off x="863600" y="3721100"/>
            <a:ext cx="101600" cy="10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0" name="S511"/>
          <p:cNvSpPr/>
          <p:nvPr/>
        </p:nvSpPr>
        <p:spPr>
          <a:xfrm>
            <a:off x="1092200" y="3657600"/>
            <a:ext cx="4673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Maximises debt capacity at a given covenant: no single weak year drags the sizing down.</a:t>
            </a:r>
          </a:p>
        </p:txBody>
      </p:sp>
      <p:sp>
        <p:nvSpPr>
          <p:cNvPr id="511" name="S512"/>
          <p:cNvSpPr/>
          <p:nvPr/>
        </p:nvSpPr>
        <p:spPr>
          <a:xfrm>
            <a:off x="863600" y="4660900"/>
            <a:ext cx="101600" cy="10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2" name="S513"/>
          <p:cNvSpPr/>
          <p:nvPr/>
        </p:nvSpPr>
        <p:spPr>
          <a:xfrm>
            <a:off x="1092200" y="4597400"/>
            <a:ext cx="4673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Supports the full $33.97m facility and a Year 12 retirement with the 50% sweep.</a:t>
            </a:r>
          </a:p>
        </p:txBody>
      </p:sp>
      <p:sp>
        <p:nvSpPr>
          <p:cNvPr id="513" name="S514"/>
          <p:cNvSpPr/>
          <p:nvPr/>
        </p:nvSpPr>
        <p:spPr>
          <a:xfrm>
            <a:off x="863600" y="5613400"/>
            <a:ext cx="4876800" cy="762000"/>
          </a:xfrm>
          <a:prstGeom prst="rect">
            <a:avLst/>
          </a:prstGeom>
          <a:noFill/>
          <a:ln w="19050">
            <a:solidFill>
              <a:srgbClr val="C55A11"/>
            </a:solidFill>
            <a:prstDash val="dash"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514" name="S515"/>
          <p:cNvSpPr/>
          <p:nvPr/>
        </p:nvSpPr>
        <p:spPr>
          <a:xfrm>
            <a:off x="1041400" y="5791200"/>
            <a:ext cx="4521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/>
              </a:rPr>
              <a:t>Cost: zero headroom by construction. Any CFADS miss breaches on day one.</a:t>
            </a:r>
          </a:p>
        </p:txBody>
      </p:sp>
      <p:sp>
        <p:nvSpPr>
          <p:cNvPr id="515" name="S516"/>
          <p:cNvSpPr/>
          <p:nvPr/>
        </p:nvSpPr>
        <p:spPr>
          <a:xfrm>
            <a:off x="6197600" y="1930400"/>
            <a:ext cx="5384800" cy="46482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6" name="S517"/>
          <p:cNvSpPr/>
          <p:nvPr/>
        </p:nvSpPr>
        <p:spPr>
          <a:xfrm>
            <a:off x="6197600" y="1930400"/>
            <a:ext cx="5384800" cy="558800"/>
          </a:xfrm>
          <a:prstGeom prst="rect">
            <a:avLst/>
          </a:prstGeom>
          <a:solidFill>
            <a:srgbClr val="8496B0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7" name="S518"/>
          <p:cNvSpPr/>
          <p:nvPr/>
        </p:nvSpPr>
        <p:spPr>
          <a:xfrm>
            <a:off x="6451600" y="207010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/>
              </a:rPr>
              <a:t>Level repayment  (rejected)</a:t>
            </a:r>
          </a:p>
        </p:txBody>
      </p:sp>
      <p:sp>
        <p:nvSpPr>
          <p:cNvPr id="518" name="S519"/>
          <p:cNvSpPr/>
          <p:nvPr/>
        </p:nvSpPr>
        <p:spPr>
          <a:xfrm>
            <a:off x="6451600" y="2781300"/>
            <a:ext cx="101600" cy="10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19" name="S520"/>
          <p:cNvSpPr/>
          <p:nvPr/>
        </p:nvSpPr>
        <p:spPr>
          <a:xfrm>
            <a:off x="6680200" y="2717800"/>
            <a:ext cx="4673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Equal principal instalments ignore the CFADS profile, so DSCR varies period to period.</a:t>
            </a:r>
          </a:p>
        </p:txBody>
      </p:sp>
      <p:sp>
        <p:nvSpPr>
          <p:cNvPr id="520" name="S521"/>
          <p:cNvSpPr/>
          <p:nvPr/>
        </p:nvSpPr>
        <p:spPr>
          <a:xfrm>
            <a:off x="6451600" y="3721100"/>
            <a:ext cx="101600" cy="10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1" name="S522"/>
          <p:cNvSpPr/>
          <p:nvPr/>
        </p:nvSpPr>
        <p:spPr>
          <a:xfrm>
            <a:off x="6680200" y="3657600"/>
            <a:ext cx="4673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The binding minimum DSCR falls below 1.30x in the early years, forcing a smaller facility.</a:t>
            </a:r>
          </a:p>
        </p:txBody>
      </p:sp>
      <p:sp>
        <p:nvSpPr>
          <p:cNvPr id="522" name="S523"/>
          <p:cNvSpPr/>
          <p:nvPr/>
        </p:nvSpPr>
        <p:spPr>
          <a:xfrm>
            <a:off x="6451600" y="4660900"/>
            <a:ext cx="101600" cy="1016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523" name="S524"/>
          <p:cNvSpPr/>
          <p:nvPr/>
        </p:nvSpPr>
        <p:spPr>
          <a:xfrm>
            <a:off x="6680200" y="4597400"/>
            <a:ext cx="46736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0" dirty="0">
                <a:solidFill>
                  <a:srgbClr val="404040"/>
                </a:solidFill>
                <a:latin typeface="Calibri"/>
              </a:rPr>
              <a:t>Simpler to administer, but it buys headroom by lending less rather than by lending better.</a:t>
            </a:r>
          </a:p>
        </p:txBody>
      </p:sp>
      <p:sp>
        <p:nvSpPr>
          <p:cNvPr id="524" name="S525"/>
          <p:cNvSpPr/>
          <p:nvPr/>
        </p:nvSpPr>
        <p:spPr>
          <a:xfrm>
            <a:off x="6451600" y="5613400"/>
            <a:ext cx="4876800" cy="762000"/>
          </a:xfrm>
          <a:prstGeom prst="rect">
            <a:avLst/>
          </a:prstGeom>
          <a:noFill/>
          <a:ln w="19050">
            <a:solidFill>
              <a:srgbClr val="C55A11"/>
            </a:solidFill>
            <a:prstDash val="dash"/>
          </a:ln>
        </p:spPr>
        <p:txBody>
          <a:bodyPr wrap="square" lIns="0" tIns="0" rIns="0" bIns="0" anchor="ctr"/>
          <a:lstStyle/>
          <a:p>
            <a:endParaRPr/>
          </a:p>
        </p:txBody>
      </p:sp>
      <p:sp>
        <p:nvSpPr>
          <p:cNvPr id="525" name="S526"/>
          <p:cNvSpPr/>
          <p:nvPr/>
        </p:nvSpPr>
        <p:spPr>
          <a:xfrm>
            <a:off x="6629400" y="5791200"/>
            <a:ext cx="4521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dirty="0">
                <a:solidFill>
                  <a:srgbClr val="1F3864"/>
                </a:solidFill>
                <a:latin typeface="Calibri"/>
              </a:rPr>
              <a:t>Trade-off: more comfort per period, less debt raised and a longer equity payback.</a:t>
            </a:r>
          </a:p>
        </p:txBody>
      </p:sp>
    </p:spTree>
    <p:extLst>
      <p:ext uri="{BB962C8B-B14F-4D97-AF65-F5344CB8AC3E}">
        <p14:creationId xmlns:p14="http://schemas.microsoft.com/office/powerpoint/2010/main" val="1751852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6004580044]">
  <a:themeElements>
    <a:clrScheme name="Office Theme">
      <a:dk1>
        <a:srgbClr val="1F3864"/>
      </a:dk1>
      <a:lt1>
        <a:srgbClr val="FFFFFF"/>
      </a:lt1>
      <a:dk2>
        <a:srgbClr val="1F3864"/>
      </a:dk2>
      <a:lt2>
        <a:srgbClr val="EDF0F5"/>
      </a:lt2>
      <a:accent1>
        <a:srgbClr val="1F3864"/>
      </a:accent1>
      <a:accent2>
        <a:srgbClr val="C55A11"/>
      </a:accent2>
      <a:accent3>
        <a:srgbClr val="548235"/>
      </a:accent3>
      <a:accent4>
        <a:srgbClr val="C00000"/>
      </a:accent4>
      <a:accent5>
        <a:srgbClr val="4A6FA5"/>
      </a:accent5>
      <a:accent6>
        <a:srgbClr val="8496B0"/>
      </a:accent6>
      <a:hlink>
        <a:srgbClr val="467886"/>
      </a:hlink>
      <a:folHlink>
        <a:srgbClr val="96607D"/>
      </a:folHlink>
    </a:clrScheme>
    <a:fontScheme name="Office Them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8995C7-ABC7-4343-B8FF-DA00A06E999F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daf3774e-9c9c-412e-8fa8-1e8eac5fc748&quot;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2157</Words>
  <Application>Microsoft Office PowerPoint</Application>
  <PresentationFormat>Widescreen</PresentationFormat>
  <Paragraphs>344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 [1786004580044]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Rosemary Waweru</cp:lastModifiedBy>
  <cp:revision>44</cp:revision>
  <dcterms:created xsi:type="dcterms:W3CDTF">2026-08-06T08:01:48Z</dcterms:created>
  <dcterms:modified xsi:type="dcterms:W3CDTF">2026-08-28T22:09:08Z</dcterms:modified>
</cp:coreProperties>
</file>